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8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248669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728100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893088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85584D-7D79-4248-9986-4CA35242F944}" type="datetimeFigureOut">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111868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85584D-7D79-4248-9986-4CA35242F944}" type="datetimeFigureOut">
              <a:rPr lang="en-US" smtClean="0"/>
              <a:t>10/3/2024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509278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85584D-7D79-4248-9986-4CA35242F944}" type="datetimeFigureOut">
              <a:rPr lang="en-US" smtClean="0"/>
              <a:t>10/3/2024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496549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85584D-7D79-4248-9986-4CA35242F944}" type="datetimeFigureOut">
              <a:rPr lang="en-US" smtClean="0"/>
              <a:t>10/3/2024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4216476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714057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430251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749232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971758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305605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9008261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2472598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814620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1145383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958102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485584D-7D79-4248-9986-4CA35242F944}" type="datetimeFigureOut">
              <a:rPr lang="en-US" smtClean="0"/>
              <a:t>10/3/2024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590046-DA73-4BBF-84B5-C08E6F75191A}" type="slidenum">
              <a:rPr lang="en-US" smtClean="0"/>
              <a:t>‹#›</a:t>
            </a:fld>
            <a:endParaRPr lang="en-US"/>
          </a:p>
        </p:txBody>
      </p:sp>
    </p:spTree>
    <p:extLst>
      <p:ext uri="{BB962C8B-B14F-4D97-AF65-F5344CB8AC3E}">
        <p14:creationId xmlns:p14="http://schemas.microsoft.com/office/powerpoint/2010/main" val="3312363865"/>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p3"/><Relationship Id="rId7" Type="http://schemas.openxmlformats.org/officeDocument/2006/relationships/image" Target="../media/image4.png"/><Relationship Id="rId2" Type="http://schemas.microsoft.com/office/2007/relationships/media" Target="../media/media1.mp3"/><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18" Type="http://schemas.openxmlformats.org/officeDocument/2006/relationships/image" Target="../media/image18.svg"/><Relationship Id="rId3" Type="http://schemas.openxmlformats.org/officeDocument/2006/relationships/audio" Target="../media/media2.mp3"/><Relationship Id="rId7" Type="http://schemas.openxmlformats.org/officeDocument/2006/relationships/image" Target="../media/image7.png"/><Relationship Id="rId12" Type="http://schemas.openxmlformats.org/officeDocument/2006/relationships/image" Target="../media/image12.svg"/><Relationship Id="rId17" Type="http://schemas.openxmlformats.org/officeDocument/2006/relationships/image" Target="../media/image17.png"/><Relationship Id="rId2" Type="http://schemas.microsoft.com/office/2007/relationships/media" Target="../media/media2.mp3"/><Relationship Id="rId16" Type="http://schemas.openxmlformats.org/officeDocument/2006/relationships/image" Target="../media/image16.svg"/><Relationship Id="rId1" Type="http://schemas.openxmlformats.org/officeDocument/2006/relationships/tags" Target="../tags/tag2.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19" Type="http://schemas.openxmlformats.org/officeDocument/2006/relationships/image" Target="../media/image4.png"/><Relationship Id="rId4" Type="http://schemas.openxmlformats.org/officeDocument/2006/relationships/slideLayout" Target="../slideLayouts/slideLayout7.xml"/><Relationship Id="rId9" Type="http://schemas.openxmlformats.org/officeDocument/2006/relationships/image" Target="../media/image9.png"/><Relationship Id="rId14"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audio" Target="../media/media3.mp3"/><Relationship Id="rId2" Type="http://schemas.microsoft.com/office/2007/relationships/media" Target="../media/media3.mp3"/><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5" name="Picture 24" descr="An abstract genetic concept">
            <a:extLst>
              <a:ext uri="{FF2B5EF4-FFF2-40B4-BE49-F238E27FC236}">
                <a16:creationId xmlns:a16="http://schemas.microsoft.com/office/drawing/2014/main" id="{2C813BE2-456C-67AD-838F-F7ED463EF0E6}"/>
              </a:ext>
            </a:extLst>
          </p:cNvPr>
          <p:cNvPicPr>
            <a:picLocks noChangeAspect="1"/>
          </p:cNvPicPr>
          <p:nvPr/>
        </p:nvPicPr>
        <p:blipFill>
          <a:blip r:embed="rId5"/>
          <a:srcRect t="25613" b="18137"/>
          <a:stretch/>
        </p:blipFill>
        <p:spPr>
          <a:xfrm>
            <a:off x="20" y="0"/>
            <a:ext cx="12191980" cy="6858000"/>
          </a:xfrm>
          <a:prstGeom prst="rect">
            <a:avLst/>
          </a:prstGeom>
        </p:spPr>
      </p:pic>
      <p:sp>
        <p:nvSpPr>
          <p:cNvPr id="2" name="Title 1">
            <a:extLst>
              <a:ext uri="{FF2B5EF4-FFF2-40B4-BE49-F238E27FC236}">
                <a16:creationId xmlns:a16="http://schemas.microsoft.com/office/drawing/2014/main" id="{D670358E-A78A-D2A7-0369-2A9BDFB69F9F}"/>
              </a:ext>
            </a:extLst>
          </p:cNvPr>
          <p:cNvSpPr>
            <a:spLocks noGrp="1"/>
          </p:cNvSpPr>
          <p:nvPr>
            <p:ph type="ctrTitle"/>
          </p:nvPr>
        </p:nvSpPr>
        <p:spPr>
          <a:xfrm>
            <a:off x="2539253" y="1028700"/>
            <a:ext cx="7113494" cy="1651868"/>
          </a:xfrm>
        </p:spPr>
        <p:txBody>
          <a:bodyPr>
            <a:noAutofit/>
          </a:bodyPr>
          <a:lstStyle/>
          <a:p>
            <a:pPr algn="ctr"/>
            <a:r>
              <a:rPr lang="en-US" sz="3200" dirty="0">
                <a:solidFill>
                  <a:schemeClr val="bg2">
                    <a:lumMod val="25000"/>
                  </a:schemeClr>
                </a:solidFill>
                <a:latin typeface="Aharoni" panose="02010803020104030203" pitchFamily="2" charset="-79"/>
                <a:ea typeface="ADLaM Display" panose="02010000000000000000" pitchFamily="2" charset="0"/>
                <a:cs typeface="Aharoni" panose="02010803020104030203" pitchFamily="2" charset="-79"/>
              </a:rPr>
              <a:t>INFORMATION AND COMMUNICATION TECHNOLOGY</a:t>
            </a:r>
          </a:p>
        </p:txBody>
      </p:sp>
      <p:sp>
        <p:nvSpPr>
          <p:cNvPr id="3" name="Subtitle 2">
            <a:extLst>
              <a:ext uri="{FF2B5EF4-FFF2-40B4-BE49-F238E27FC236}">
                <a16:creationId xmlns:a16="http://schemas.microsoft.com/office/drawing/2014/main" id="{472AD02C-EFE7-50B6-1219-C518F3311562}"/>
              </a:ext>
            </a:extLst>
          </p:cNvPr>
          <p:cNvSpPr>
            <a:spLocks noGrp="1"/>
          </p:cNvSpPr>
          <p:nvPr>
            <p:ph type="subTitle" idx="1"/>
          </p:nvPr>
        </p:nvSpPr>
        <p:spPr>
          <a:xfrm>
            <a:off x="3618136" y="3962549"/>
            <a:ext cx="2626253" cy="715119"/>
          </a:xfrm>
        </p:spPr>
        <p:txBody>
          <a:bodyPr>
            <a:normAutofit/>
          </a:bodyPr>
          <a:lstStyle/>
          <a:p>
            <a:endParaRPr lang="en-US" dirty="0"/>
          </a:p>
        </p:txBody>
      </p:sp>
      <p:pic>
        <p:nvPicPr>
          <p:cNvPr id="1026" name="Picture 2" descr="What is ICT?">
            <a:extLst>
              <a:ext uri="{FF2B5EF4-FFF2-40B4-BE49-F238E27FC236}">
                <a16:creationId xmlns:a16="http://schemas.microsoft.com/office/drawing/2014/main" id="{2D3F36F5-44C9-2D15-5392-A88EEAB040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4904" y="3024482"/>
            <a:ext cx="5382192" cy="3306371"/>
          </a:xfrm>
          <a:prstGeom prst="rect">
            <a:avLst/>
          </a:prstGeom>
          <a:noFill/>
          <a:extLst>
            <a:ext uri="{909E8E84-426E-40DD-AFC4-6F175D3DCCD1}">
              <a14:hiddenFill xmlns:a14="http://schemas.microsoft.com/office/drawing/2010/main">
                <a:solidFill>
                  <a:srgbClr val="FFFFFF"/>
                </a:solidFill>
              </a14:hiddenFill>
            </a:ext>
          </a:extLst>
        </p:spPr>
      </p:pic>
      <p:pic>
        <p:nvPicPr>
          <p:cNvPr id="9" name="my_name_is_muhammad_saad_khan_from_CS_departme_inferred">
            <a:hlinkClick r:id="" action="ppaction://media"/>
            <a:extLst>
              <a:ext uri="{FF2B5EF4-FFF2-40B4-BE49-F238E27FC236}">
                <a16:creationId xmlns:a16="http://schemas.microsoft.com/office/drawing/2014/main" id="{CB680B6B-B59D-2A14-05EC-D3261BC1034A}"/>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892800" y="3225800"/>
            <a:ext cx="406400" cy="406400"/>
          </a:xfrm>
          <a:prstGeom prst="rect">
            <a:avLst/>
          </a:prstGeom>
        </p:spPr>
      </p:pic>
    </p:spTree>
    <p:custDataLst>
      <p:tags r:id="rId1"/>
    </p:custDataLst>
    <p:extLst>
      <p:ext uri="{BB962C8B-B14F-4D97-AF65-F5344CB8AC3E}">
        <p14:creationId xmlns:p14="http://schemas.microsoft.com/office/powerpoint/2010/main" val="2938504972"/>
      </p:ext>
    </p:extLst>
  </p:cSld>
  <p:clrMapOvr>
    <a:masterClrMapping/>
  </p:clrMapOvr>
  <mc:AlternateContent xmlns:mc="http://schemas.openxmlformats.org/markup-compatibility/2006">
    <mc:Choice xmlns:p14="http://schemas.microsoft.com/office/powerpoint/2010/main" Requires="p14">
      <p:transition spd="med" p14:dur="700" advTm="10145">
        <p:fade/>
      </p:transition>
    </mc:Choice>
    <mc:Fallback>
      <p:transition spd="med" advTm="1014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8119"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3" fill="hold" display="0">
                  <p:stCondLst>
                    <p:cond delay="indefinite"/>
                  </p:stCondLst>
                  <p:endCondLst>
                    <p:cond evt="onStopAudio" delay="0">
                      <p:tgtEl>
                        <p:sldTgt/>
                      </p:tgtEl>
                    </p:cond>
                  </p:endCondLst>
                </p:cTn>
                <p:tgtEl>
                  <p:spTgt spid="9"/>
                </p:tgtEl>
              </p:cMediaNode>
            </p:audio>
          </p:childTnLst>
        </p:cTn>
      </p:par>
    </p:tnLst>
    <p:bldLst>
      <p:bldP spid="2" grpId="0"/>
    </p:bldLst>
  </p:timing>
  <p:extLst>
    <p:ext uri="{E180D4A7-C9FB-4DFB-919C-405C955672EB}">
      <p14:showEvtLst xmlns:p14="http://schemas.microsoft.com/office/powerpoint/2010/main">
        <p14:playEvt time="2556" objId="9"/>
        <p14:stopEvt time="10145" objId="9"/>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06663A8-50E9-BBA8-38E0-1919F237C1BD}"/>
              </a:ext>
            </a:extLst>
          </p:cNvPr>
          <p:cNvSpPr/>
          <p:nvPr/>
        </p:nvSpPr>
        <p:spPr>
          <a:xfrm>
            <a:off x="6672943" y="718457"/>
            <a:ext cx="4212771" cy="576943"/>
          </a:xfrm>
          <a:custGeom>
            <a:avLst/>
            <a:gdLst>
              <a:gd name="connsiteX0" fmla="*/ 999673 w 4212771"/>
              <a:gd name="connsiteY0" fmla="*/ 0 h 576943"/>
              <a:gd name="connsiteX1" fmla="*/ 4116612 w 4212771"/>
              <a:gd name="connsiteY1" fmla="*/ 0 h 576943"/>
              <a:gd name="connsiteX2" fmla="*/ 4212771 w 4212771"/>
              <a:gd name="connsiteY2" fmla="*/ 96159 h 576943"/>
              <a:gd name="connsiteX3" fmla="*/ 4212771 w 4212771"/>
              <a:gd name="connsiteY3" fmla="*/ 480784 h 576943"/>
              <a:gd name="connsiteX4" fmla="*/ 4116612 w 4212771"/>
              <a:gd name="connsiteY4" fmla="*/ 576943 h 576943"/>
              <a:gd name="connsiteX5" fmla="*/ 1316736 w 4212771"/>
              <a:gd name="connsiteY5" fmla="*/ 576943 h 576943"/>
              <a:gd name="connsiteX6" fmla="*/ 999673 w 4212771"/>
              <a:gd name="connsiteY6" fmla="*/ 576943 h 576943"/>
              <a:gd name="connsiteX7" fmla="*/ 288036 w 4212771"/>
              <a:gd name="connsiteY7" fmla="*/ 576943 h 576943"/>
              <a:gd name="connsiteX8" fmla="*/ 0 w 4212771"/>
              <a:gd name="connsiteY8" fmla="*/ 288907 h 576943"/>
              <a:gd name="connsiteX9" fmla="*/ 288036 w 4212771"/>
              <a:gd name="connsiteY9" fmla="*/ 871 h 576943"/>
              <a:gd name="connsiteX10" fmla="*/ 995359 w 4212771"/>
              <a:gd name="connsiteY10" fmla="*/ 871 h 57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12771" h="576943">
                <a:moveTo>
                  <a:pt x="999673" y="0"/>
                </a:moveTo>
                <a:lnTo>
                  <a:pt x="4116612" y="0"/>
                </a:lnTo>
                <a:cubicBezTo>
                  <a:pt x="4169719" y="0"/>
                  <a:pt x="4212771" y="43052"/>
                  <a:pt x="4212771" y="96159"/>
                </a:cubicBezTo>
                <a:lnTo>
                  <a:pt x="4212771" y="480784"/>
                </a:lnTo>
                <a:cubicBezTo>
                  <a:pt x="4212771" y="533891"/>
                  <a:pt x="4169719" y="576943"/>
                  <a:pt x="4116612" y="576943"/>
                </a:cubicBezTo>
                <a:lnTo>
                  <a:pt x="1316736" y="576943"/>
                </a:lnTo>
                <a:lnTo>
                  <a:pt x="999673" y="576943"/>
                </a:lnTo>
                <a:lnTo>
                  <a:pt x="288036" y="576943"/>
                </a:lnTo>
                <a:lnTo>
                  <a:pt x="0" y="288907"/>
                </a:lnTo>
                <a:lnTo>
                  <a:pt x="288036" y="871"/>
                </a:lnTo>
                <a:lnTo>
                  <a:pt x="995359" y="871"/>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Arrow: Chevron 6">
            <a:extLst>
              <a:ext uri="{FF2B5EF4-FFF2-40B4-BE49-F238E27FC236}">
                <a16:creationId xmlns:a16="http://schemas.microsoft.com/office/drawing/2014/main" id="{B7984A97-F18A-4AA3-4D13-93EB69E5F4C8}"/>
              </a:ext>
            </a:extLst>
          </p:cNvPr>
          <p:cNvSpPr/>
          <p:nvPr/>
        </p:nvSpPr>
        <p:spPr>
          <a:xfrm flipH="1">
            <a:off x="6192791" y="717409"/>
            <a:ext cx="696686" cy="587828"/>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85000"/>
                </a:schemeClr>
              </a:solidFill>
            </a:endParaRPr>
          </a:p>
        </p:txBody>
      </p:sp>
      <p:sp>
        <p:nvSpPr>
          <p:cNvPr id="8" name="Freeform: Shape 7">
            <a:extLst>
              <a:ext uri="{FF2B5EF4-FFF2-40B4-BE49-F238E27FC236}">
                <a16:creationId xmlns:a16="http://schemas.microsoft.com/office/drawing/2014/main" id="{84BB3910-0678-C4C6-9559-AF45E134FB55}"/>
              </a:ext>
            </a:extLst>
          </p:cNvPr>
          <p:cNvSpPr/>
          <p:nvPr/>
        </p:nvSpPr>
        <p:spPr>
          <a:xfrm>
            <a:off x="6672943" y="1534886"/>
            <a:ext cx="4212771" cy="576943"/>
          </a:xfrm>
          <a:custGeom>
            <a:avLst/>
            <a:gdLst>
              <a:gd name="connsiteX0" fmla="*/ 999673 w 4212771"/>
              <a:gd name="connsiteY0" fmla="*/ 0 h 576943"/>
              <a:gd name="connsiteX1" fmla="*/ 4116612 w 4212771"/>
              <a:gd name="connsiteY1" fmla="*/ 0 h 576943"/>
              <a:gd name="connsiteX2" fmla="*/ 4212771 w 4212771"/>
              <a:gd name="connsiteY2" fmla="*/ 96159 h 576943"/>
              <a:gd name="connsiteX3" fmla="*/ 4212771 w 4212771"/>
              <a:gd name="connsiteY3" fmla="*/ 480784 h 576943"/>
              <a:gd name="connsiteX4" fmla="*/ 4116612 w 4212771"/>
              <a:gd name="connsiteY4" fmla="*/ 576943 h 576943"/>
              <a:gd name="connsiteX5" fmla="*/ 1316736 w 4212771"/>
              <a:gd name="connsiteY5" fmla="*/ 576943 h 576943"/>
              <a:gd name="connsiteX6" fmla="*/ 999673 w 4212771"/>
              <a:gd name="connsiteY6" fmla="*/ 576943 h 576943"/>
              <a:gd name="connsiteX7" fmla="*/ 288036 w 4212771"/>
              <a:gd name="connsiteY7" fmla="*/ 576943 h 576943"/>
              <a:gd name="connsiteX8" fmla="*/ 0 w 4212771"/>
              <a:gd name="connsiteY8" fmla="*/ 288907 h 576943"/>
              <a:gd name="connsiteX9" fmla="*/ 288036 w 4212771"/>
              <a:gd name="connsiteY9" fmla="*/ 871 h 576943"/>
              <a:gd name="connsiteX10" fmla="*/ 995359 w 4212771"/>
              <a:gd name="connsiteY10" fmla="*/ 871 h 57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12771" h="576943">
                <a:moveTo>
                  <a:pt x="999673" y="0"/>
                </a:moveTo>
                <a:lnTo>
                  <a:pt x="4116612" y="0"/>
                </a:lnTo>
                <a:cubicBezTo>
                  <a:pt x="4169719" y="0"/>
                  <a:pt x="4212771" y="43052"/>
                  <a:pt x="4212771" y="96159"/>
                </a:cubicBezTo>
                <a:lnTo>
                  <a:pt x="4212771" y="480784"/>
                </a:lnTo>
                <a:cubicBezTo>
                  <a:pt x="4212771" y="533891"/>
                  <a:pt x="4169719" y="576943"/>
                  <a:pt x="4116612" y="576943"/>
                </a:cubicBezTo>
                <a:lnTo>
                  <a:pt x="1316736" y="576943"/>
                </a:lnTo>
                <a:lnTo>
                  <a:pt x="999673" y="576943"/>
                </a:lnTo>
                <a:lnTo>
                  <a:pt x="288036" y="576943"/>
                </a:lnTo>
                <a:lnTo>
                  <a:pt x="0" y="288907"/>
                </a:lnTo>
                <a:lnTo>
                  <a:pt x="288036" y="871"/>
                </a:lnTo>
                <a:lnTo>
                  <a:pt x="995359" y="871"/>
                </a:ln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36EE5D0C-D9AB-6B00-2DE1-1F541AD3C5DD}"/>
              </a:ext>
            </a:extLst>
          </p:cNvPr>
          <p:cNvSpPr/>
          <p:nvPr/>
        </p:nvSpPr>
        <p:spPr>
          <a:xfrm>
            <a:off x="6672942" y="2313216"/>
            <a:ext cx="4212771" cy="576943"/>
          </a:xfrm>
          <a:custGeom>
            <a:avLst/>
            <a:gdLst>
              <a:gd name="connsiteX0" fmla="*/ 999673 w 4212771"/>
              <a:gd name="connsiteY0" fmla="*/ 0 h 576943"/>
              <a:gd name="connsiteX1" fmla="*/ 4116612 w 4212771"/>
              <a:gd name="connsiteY1" fmla="*/ 0 h 576943"/>
              <a:gd name="connsiteX2" fmla="*/ 4212771 w 4212771"/>
              <a:gd name="connsiteY2" fmla="*/ 96159 h 576943"/>
              <a:gd name="connsiteX3" fmla="*/ 4212771 w 4212771"/>
              <a:gd name="connsiteY3" fmla="*/ 480784 h 576943"/>
              <a:gd name="connsiteX4" fmla="*/ 4116612 w 4212771"/>
              <a:gd name="connsiteY4" fmla="*/ 576943 h 576943"/>
              <a:gd name="connsiteX5" fmla="*/ 1316736 w 4212771"/>
              <a:gd name="connsiteY5" fmla="*/ 576943 h 576943"/>
              <a:gd name="connsiteX6" fmla="*/ 999673 w 4212771"/>
              <a:gd name="connsiteY6" fmla="*/ 576943 h 576943"/>
              <a:gd name="connsiteX7" fmla="*/ 288036 w 4212771"/>
              <a:gd name="connsiteY7" fmla="*/ 576943 h 576943"/>
              <a:gd name="connsiteX8" fmla="*/ 0 w 4212771"/>
              <a:gd name="connsiteY8" fmla="*/ 288907 h 576943"/>
              <a:gd name="connsiteX9" fmla="*/ 288036 w 4212771"/>
              <a:gd name="connsiteY9" fmla="*/ 871 h 576943"/>
              <a:gd name="connsiteX10" fmla="*/ 995359 w 4212771"/>
              <a:gd name="connsiteY10" fmla="*/ 871 h 57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12771" h="576943">
                <a:moveTo>
                  <a:pt x="999673" y="0"/>
                </a:moveTo>
                <a:lnTo>
                  <a:pt x="4116612" y="0"/>
                </a:lnTo>
                <a:cubicBezTo>
                  <a:pt x="4169719" y="0"/>
                  <a:pt x="4212771" y="43052"/>
                  <a:pt x="4212771" y="96159"/>
                </a:cubicBezTo>
                <a:lnTo>
                  <a:pt x="4212771" y="480784"/>
                </a:lnTo>
                <a:cubicBezTo>
                  <a:pt x="4212771" y="533891"/>
                  <a:pt x="4169719" y="576943"/>
                  <a:pt x="4116612" y="576943"/>
                </a:cubicBezTo>
                <a:lnTo>
                  <a:pt x="1316736" y="576943"/>
                </a:lnTo>
                <a:lnTo>
                  <a:pt x="999673" y="576943"/>
                </a:lnTo>
                <a:lnTo>
                  <a:pt x="288036" y="576943"/>
                </a:lnTo>
                <a:lnTo>
                  <a:pt x="0" y="288907"/>
                </a:lnTo>
                <a:lnTo>
                  <a:pt x="288036" y="871"/>
                </a:lnTo>
                <a:lnTo>
                  <a:pt x="995359" y="871"/>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1AE45AF8-1DF8-EDF5-CF71-5BEAD0F5D87A}"/>
              </a:ext>
            </a:extLst>
          </p:cNvPr>
          <p:cNvSpPr/>
          <p:nvPr/>
        </p:nvSpPr>
        <p:spPr>
          <a:xfrm>
            <a:off x="6672942" y="3080660"/>
            <a:ext cx="4212771" cy="576943"/>
          </a:xfrm>
          <a:custGeom>
            <a:avLst/>
            <a:gdLst>
              <a:gd name="connsiteX0" fmla="*/ 999673 w 4212771"/>
              <a:gd name="connsiteY0" fmla="*/ 0 h 576943"/>
              <a:gd name="connsiteX1" fmla="*/ 4116612 w 4212771"/>
              <a:gd name="connsiteY1" fmla="*/ 0 h 576943"/>
              <a:gd name="connsiteX2" fmla="*/ 4212771 w 4212771"/>
              <a:gd name="connsiteY2" fmla="*/ 96159 h 576943"/>
              <a:gd name="connsiteX3" fmla="*/ 4212771 w 4212771"/>
              <a:gd name="connsiteY3" fmla="*/ 480784 h 576943"/>
              <a:gd name="connsiteX4" fmla="*/ 4116612 w 4212771"/>
              <a:gd name="connsiteY4" fmla="*/ 576943 h 576943"/>
              <a:gd name="connsiteX5" fmla="*/ 1316736 w 4212771"/>
              <a:gd name="connsiteY5" fmla="*/ 576943 h 576943"/>
              <a:gd name="connsiteX6" fmla="*/ 999673 w 4212771"/>
              <a:gd name="connsiteY6" fmla="*/ 576943 h 576943"/>
              <a:gd name="connsiteX7" fmla="*/ 288036 w 4212771"/>
              <a:gd name="connsiteY7" fmla="*/ 576943 h 576943"/>
              <a:gd name="connsiteX8" fmla="*/ 0 w 4212771"/>
              <a:gd name="connsiteY8" fmla="*/ 288907 h 576943"/>
              <a:gd name="connsiteX9" fmla="*/ 288036 w 4212771"/>
              <a:gd name="connsiteY9" fmla="*/ 871 h 576943"/>
              <a:gd name="connsiteX10" fmla="*/ 995359 w 4212771"/>
              <a:gd name="connsiteY10" fmla="*/ 871 h 57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12771" h="576943">
                <a:moveTo>
                  <a:pt x="999673" y="0"/>
                </a:moveTo>
                <a:lnTo>
                  <a:pt x="4116612" y="0"/>
                </a:lnTo>
                <a:cubicBezTo>
                  <a:pt x="4169719" y="0"/>
                  <a:pt x="4212771" y="43052"/>
                  <a:pt x="4212771" y="96159"/>
                </a:cubicBezTo>
                <a:lnTo>
                  <a:pt x="4212771" y="480784"/>
                </a:lnTo>
                <a:cubicBezTo>
                  <a:pt x="4212771" y="533891"/>
                  <a:pt x="4169719" y="576943"/>
                  <a:pt x="4116612" y="576943"/>
                </a:cubicBezTo>
                <a:lnTo>
                  <a:pt x="1316736" y="576943"/>
                </a:lnTo>
                <a:lnTo>
                  <a:pt x="999673" y="576943"/>
                </a:lnTo>
                <a:lnTo>
                  <a:pt x="288036" y="576943"/>
                </a:lnTo>
                <a:lnTo>
                  <a:pt x="0" y="288907"/>
                </a:lnTo>
                <a:lnTo>
                  <a:pt x="288036" y="871"/>
                </a:lnTo>
                <a:lnTo>
                  <a:pt x="995359" y="871"/>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A5ACD845-CF6F-ADF7-14DB-7E5AD54F1542}"/>
              </a:ext>
            </a:extLst>
          </p:cNvPr>
          <p:cNvSpPr/>
          <p:nvPr/>
        </p:nvSpPr>
        <p:spPr>
          <a:xfrm>
            <a:off x="6672942" y="3878036"/>
            <a:ext cx="4212771" cy="576943"/>
          </a:xfrm>
          <a:custGeom>
            <a:avLst/>
            <a:gdLst>
              <a:gd name="connsiteX0" fmla="*/ 999673 w 4212771"/>
              <a:gd name="connsiteY0" fmla="*/ 0 h 576943"/>
              <a:gd name="connsiteX1" fmla="*/ 4116612 w 4212771"/>
              <a:gd name="connsiteY1" fmla="*/ 0 h 576943"/>
              <a:gd name="connsiteX2" fmla="*/ 4212771 w 4212771"/>
              <a:gd name="connsiteY2" fmla="*/ 96159 h 576943"/>
              <a:gd name="connsiteX3" fmla="*/ 4212771 w 4212771"/>
              <a:gd name="connsiteY3" fmla="*/ 480784 h 576943"/>
              <a:gd name="connsiteX4" fmla="*/ 4116612 w 4212771"/>
              <a:gd name="connsiteY4" fmla="*/ 576943 h 576943"/>
              <a:gd name="connsiteX5" fmla="*/ 1316736 w 4212771"/>
              <a:gd name="connsiteY5" fmla="*/ 576943 h 576943"/>
              <a:gd name="connsiteX6" fmla="*/ 999673 w 4212771"/>
              <a:gd name="connsiteY6" fmla="*/ 576943 h 576943"/>
              <a:gd name="connsiteX7" fmla="*/ 288036 w 4212771"/>
              <a:gd name="connsiteY7" fmla="*/ 576943 h 576943"/>
              <a:gd name="connsiteX8" fmla="*/ 0 w 4212771"/>
              <a:gd name="connsiteY8" fmla="*/ 288907 h 576943"/>
              <a:gd name="connsiteX9" fmla="*/ 288036 w 4212771"/>
              <a:gd name="connsiteY9" fmla="*/ 871 h 576943"/>
              <a:gd name="connsiteX10" fmla="*/ 995359 w 4212771"/>
              <a:gd name="connsiteY10" fmla="*/ 871 h 57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12771" h="576943">
                <a:moveTo>
                  <a:pt x="999673" y="0"/>
                </a:moveTo>
                <a:lnTo>
                  <a:pt x="4116612" y="0"/>
                </a:lnTo>
                <a:cubicBezTo>
                  <a:pt x="4169719" y="0"/>
                  <a:pt x="4212771" y="43052"/>
                  <a:pt x="4212771" y="96159"/>
                </a:cubicBezTo>
                <a:lnTo>
                  <a:pt x="4212771" y="480784"/>
                </a:lnTo>
                <a:cubicBezTo>
                  <a:pt x="4212771" y="533891"/>
                  <a:pt x="4169719" y="576943"/>
                  <a:pt x="4116612" y="576943"/>
                </a:cubicBezTo>
                <a:lnTo>
                  <a:pt x="1316736" y="576943"/>
                </a:lnTo>
                <a:lnTo>
                  <a:pt x="999673" y="576943"/>
                </a:lnTo>
                <a:lnTo>
                  <a:pt x="288036" y="576943"/>
                </a:lnTo>
                <a:lnTo>
                  <a:pt x="0" y="288907"/>
                </a:lnTo>
                <a:lnTo>
                  <a:pt x="288036" y="871"/>
                </a:lnTo>
                <a:lnTo>
                  <a:pt x="995359" y="871"/>
                </a:lnTo>
                <a:close/>
              </a:path>
            </a:pathLst>
          </a:cu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F0193E7-1D20-9AB4-7283-40331CF5771D}"/>
              </a:ext>
            </a:extLst>
          </p:cNvPr>
          <p:cNvSpPr/>
          <p:nvPr/>
        </p:nvSpPr>
        <p:spPr>
          <a:xfrm>
            <a:off x="6672942" y="4746171"/>
            <a:ext cx="4212771" cy="576943"/>
          </a:xfrm>
          <a:custGeom>
            <a:avLst/>
            <a:gdLst>
              <a:gd name="connsiteX0" fmla="*/ 999673 w 4212771"/>
              <a:gd name="connsiteY0" fmla="*/ 0 h 576943"/>
              <a:gd name="connsiteX1" fmla="*/ 4116612 w 4212771"/>
              <a:gd name="connsiteY1" fmla="*/ 0 h 576943"/>
              <a:gd name="connsiteX2" fmla="*/ 4212771 w 4212771"/>
              <a:gd name="connsiteY2" fmla="*/ 96159 h 576943"/>
              <a:gd name="connsiteX3" fmla="*/ 4212771 w 4212771"/>
              <a:gd name="connsiteY3" fmla="*/ 480784 h 576943"/>
              <a:gd name="connsiteX4" fmla="*/ 4116612 w 4212771"/>
              <a:gd name="connsiteY4" fmla="*/ 576943 h 576943"/>
              <a:gd name="connsiteX5" fmla="*/ 1316736 w 4212771"/>
              <a:gd name="connsiteY5" fmla="*/ 576943 h 576943"/>
              <a:gd name="connsiteX6" fmla="*/ 999673 w 4212771"/>
              <a:gd name="connsiteY6" fmla="*/ 576943 h 576943"/>
              <a:gd name="connsiteX7" fmla="*/ 288036 w 4212771"/>
              <a:gd name="connsiteY7" fmla="*/ 576943 h 576943"/>
              <a:gd name="connsiteX8" fmla="*/ 0 w 4212771"/>
              <a:gd name="connsiteY8" fmla="*/ 288907 h 576943"/>
              <a:gd name="connsiteX9" fmla="*/ 288036 w 4212771"/>
              <a:gd name="connsiteY9" fmla="*/ 871 h 576943"/>
              <a:gd name="connsiteX10" fmla="*/ 995359 w 4212771"/>
              <a:gd name="connsiteY10" fmla="*/ 871 h 57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12771" h="576943">
                <a:moveTo>
                  <a:pt x="999673" y="0"/>
                </a:moveTo>
                <a:lnTo>
                  <a:pt x="4116612" y="0"/>
                </a:lnTo>
                <a:cubicBezTo>
                  <a:pt x="4169719" y="0"/>
                  <a:pt x="4212771" y="43052"/>
                  <a:pt x="4212771" y="96159"/>
                </a:cubicBezTo>
                <a:lnTo>
                  <a:pt x="4212771" y="480784"/>
                </a:lnTo>
                <a:cubicBezTo>
                  <a:pt x="4212771" y="533891"/>
                  <a:pt x="4169719" y="576943"/>
                  <a:pt x="4116612" y="576943"/>
                </a:cubicBezTo>
                <a:lnTo>
                  <a:pt x="1316736" y="576943"/>
                </a:lnTo>
                <a:lnTo>
                  <a:pt x="999673" y="576943"/>
                </a:lnTo>
                <a:lnTo>
                  <a:pt x="288036" y="576943"/>
                </a:lnTo>
                <a:lnTo>
                  <a:pt x="0" y="288907"/>
                </a:lnTo>
                <a:lnTo>
                  <a:pt x="288036" y="871"/>
                </a:lnTo>
                <a:lnTo>
                  <a:pt x="995359" y="871"/>
                </a:lnTo>
                <a:close/>
              </a:path>
            </a:pathLst>
          </a:cu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Arrow: Chevron 12">
            <a:extLst>
              <a:ext uri="{FF2B5EF4-FFF2-40B4-BE49-F238E27FC236}">
                <a16:creationId xmlns:a16="http://schemas.microsoft.com/office/drawing/2014/main" id="{CC23DFDF-6801-8564-5330-34103F052F08}"/>
              </a:ext>
            </a:extLst>
          </p:cNvPr>
          <p:cNvSpPr/>
          <p:nvPr/>
        </p:nvSpPr>
        <p:spPr>
          <a:xfrm flipH="1">
            <a:off x="6192791" y="1522647"/>
            <a:ext cx="696686" cy="587828"/>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Arrow: Chevron 14">
            <a:extLst>
              <a:ext uri="{FF2B5EF4-FFF2-40B4-BE49-F238E27FC236}">
                <a16:creationId xmlns:a16="http://schemas.microsoft.com/office/drawing/2014/main" id="{A31F30D7-AE88-5D32-9D84-72383B89CFBD}"/>
              </a:ext>
            </a:extLst>
          </p:cNvPr>
          <p:cNvSpPr/>
          <p:nvPr/>
        </p:nvSpPr>
        <p:spPr>
          <a:xfrm flipH="1">
            <a:off x="6192791" y="2296318"/>
            <a:ext cx="696686" cy="587828"/>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Arrow: Chevron 1">
            <a:extLst>
              <a:ext uri="{FF2B5EF4-FFF2-40B4-BE49-F238E27FC236}">
                <a16:creationId xmlns:a16="http://schemas.microsoft.com/office/drawing/2014/main" id="{90D783CF-294F-C401-775D-5D0E9B0F9C37}"/>
              </a:ext>
            </a:extLst>
          </p:cNvPr>
          <p:cNvSpPr/>
          <p:nvPr/>
        </p:nvSpPr>
        <p:spPr>
          <a:xfrm flipH="1">
            <a:off x="6192791" y="3079013"/>
            <a:ext cx="696686" cy="587828"/>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Arrow: Chevron 2">
            <a:extLst>
              <a:ext uri="{FF2B5EF4-FFF2-40B4-BE49-F238E27FC236}">
                <a16:creationId xmlns:a16="http://schemas.microsoft.com/office/drawing/2014/main" id="{CDCADAB7-87FA-F0F5-8FFD-D313B32F5320}"/>
              </a:ext>
            </a:extLst>
          </p:cNvPr>
          <p:cNvSpPr/>
          <p:nvPr/>
        </p:nvSpPr>
        <p:spPr>
          <a:xfrm flipH="1">
            <a:off x="6192791" y="3852040"/>
            <a:ext cx="696686" cy="587828"/>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Arrow: Chevron 3">
            <a:extLst>
              <a:ext uri="{FF2B5EF4-FFF2-40B4-BE49-F238E27FC236}">
                <a16:creationId xmlns:a16="http://schemas.microsoft.com/office/drawing/2014/main" id="{D59AFD01-0462-C0CE-E28F-FE2BB0BB677C}"/>
              </a:ext>
            </a:extLst>
          </p:cNvPr>
          <p:cNvSpPr/>
          <p:nvPr/>
        </p:nvSpPr>
        <p:spPr>
          <a:xfrm flipH="1">
            <a:off x="6192791" y="4740728"/>
            <a:ext cx="696686" cy="587828"/>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Freeform: Shape 4">
            <a:extLst>
              <a:ext uri="{FF2B5EF4-FFF2-40B4-BE49-F238E27FC236}">
                <a16:creationId xmlns:a16="http://schemas.microsoft.com/office/drawing/2014/main" id="{F9A7BF11-CDBA-13EE-EB36-26DF8F17E6E4}"/>
              </a:ext>
            </a:extLst>
          </p:cNvPr>
          <p:cNvSpPr/>
          <p:nvPr/>
        </p:nvSpPr>
        <p:spPr>
          <a:xfrm>
            <a:off x="6672942" y="5546273"/>
            <a:ext cx="4212771" cy="576943"/>
          </a:xfrm>
          <a:custGeom>
            <a:avLst/>
            <a:gdLst>
              <a:gd name="connsiteX0" fmla="*/ 999673 w 4212771"/>
              <a:gd name="connsiteY0" fmla="*/ 0 h 576943"/>
              <a:gd name="connsiteX1" fmla="*/ 4116612 w 4212771"/>
              <a:gd name="connsiteY1" fmla="*/ 0 h 576943"/>
              <a:gd name="connsiteX2" fmla="*/ 4212771 w 4212771"/>
              <a:gd name="connsiteY2" fmla="*/ 96159 h 576943"/>
              <a:gd name="connsiteX3" fmla="*/ 4212771 w 4212771"/>
              <a:gd name="connsiteY3" fmla="*/ 480784 h 576943"/>
              <a:gd name="connsiteX4" fmla="*/ 4116612 w 4212771"/>
              <a:gd name="connsiteY4" fmla="*/ 576943 h 576943"/>
              <a:gd name="connsiteX5" fmla="*/ 1316736 w 4212771"/>
              <a:gd name="connsiteY5" fmla="*/ 576943 h 576943"/>
              <a:gd name="connsiteX6" fmla="*/ 999673 w 4212771"/>
              <a:gd name="connsiteY6" fmla="*/ 576943 h 576943"/>
              <a:gd name="connsiteX7" fmla="*/ 288036 w 4212771"/>
              <a:gd name="connsiteY7" fmla="*/ 576943 h 576943"/>
              <a:gd name="connsiteX8" fmla="*/ 0 w 4212771"/>
              <a:gd name="connsiteY8" fmla="*/ 288907 h 576943"/>
              <a:gd name="connsiteX9" fmla="*/ 288036 w 4212771"/>
              <a:gd name="connsiteY9" fmla="*/ 871 h 576943"/>
              <a:gd name="connsiteX10" fmla="*/ 995359 w 4212771"/>
              <a:gd name="connsiteY10" fmla="*/ 871 h 57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12771" h="576943">
                <a:moveTo>
                  <a:pt x="999673" y="0"/>
                </a:moveTo>
                <a:lnTo>
                  <a:pt x="4116612" y="0"/>
                </a:lnTo>
                <a:cubicBezTo>
                  <a:pt x="4169719" y="0"/>
                  <a:pt x="4212771" y="43052"/>
                  <a:pt x="4212771" y="96159"/>
                </a:cubicBezTo>
                <a:lnTo>
                  <a:pt x="4212771" y="480784"/>
                </a:lnTo>
                <a:cubicBezTo>
                  <a:pt x="4212771" y="533891"/>
                  <a:pt x="4169719" y="576943"/>
                  <a:pt x="4116612" y="576943"/>
                </a:cubicBezTo>
                <a:lnTo>
                  <a:pt x="1316736" y="576943"/>
                </a:lnTo>
                <a:lnTo>
                  <a:pt x="999673" y="576943"/>
                </a:lnTo>
                <a:lnTo>
                  <a:pt x="288036" y="576943"/>
                </a:lnTo>
                <a:lnTo>
                  <a:pt x="0" y="288907"/>
                </a:lnTo>
                <a:lnTo>
                  <a:pt x="288036" y="871"/>
                </a:lnTo>
                <a:lnTo>
                  <a:pt x="995359" y="871"/>
                </a:lnTo>
                <a:close/>
              </a:path>
            </a:pathLst>
          </a:cu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Arrow: Chevron 13">
            <a:extLst>
              <a:ext uri="{FF2B5EF4-FFF2-40B4-BE49-F238E27FC236}">
                <a16:creationId xmlns:a16="http://schemas.microsoft.com/office/drawing/2014/main" id="{50AC86C5-A81D-615D-D0B2-6E22D6D68E3A}"/>
              </a:ext>
            </a:extLst>
          </p:cNvPr>
          <p:cNvSpPr/>
          <p:nvPr/>
        </p:nvSpPr>
        <p:spPr>
          <a:xfrm flipH="1">
            <a:off x="6192791" y="5535388"/>
            <a:ext cx="696686" cy="587828"/>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TextBox 16">
            <a:extLst>
              <a:ext uri="{FF2B5EF4-FFF2-40B4-BE49-F238E27FC236}">
                <a16:creationId xmlns:a16="http://schemas.microsoft.com/office/drawing/2014/main" id="{1F1C4479-4281-A7AC-DEBE-BD7248E03BAE}"/>
              </a:ext>
            </a:extLst>
          </p:cNvPr>
          <p:cNvSpPr txBox="1"/>
          <p:nvPr/>
        </p:nvSpPr>
        <p:spPr>
          <a:xfrm>
            <a:off x="6899839" y="776095"/>
            <a:ext cx="561860" cy="461665"/>
          </a:xfrm>
          <a:prstGeom prst="rect">
            <a:avLst/>
          </a:prstGeom>
          <a:noFill/>
        </p:spPr>
        <p:txBody>
          <a:bodyPr wrap="square" rtlCol="0">
            <a:spAutoFit/>
          </a:bodyPr>
          <a:lstStyle/>
          <a:p>
            <a:r>
              <a:rPr lang="en-US" sz="2400" dirty="0">
                <a:solidFill>
                  <a:schemeClr val="bg1"/>
                </a:solidFill>
              </a:rPr>
              <a:t>01</a:t>
            </a:r>
          </a:p>
        </p:txBody>
      </p:sp>
      <p:sp>
        <p:nvSpPr>
          <p:cNvPr id="18" name="TextBox 17">
            <a:extLst>
              <a:ext uri="{FF2B5EF4-FFF2-40B4-BE49-F238E27FC236}">
                <a16:creationId xmlns:a16="http://schemas.microsoft.com/office/drawing/2014/main" id="{9D827611-9726-9B49-44CD-4E18B722D71A}"/>
              </a:ext>
            </a:extLst>
          </p:cNvPr>
          <p:cNvSpPr txBox="1"/>
          <p:nvPr/>
        </p:nvSpPr>
        <p:spPr>
          <a:xfrm>
            <a:off x="6870068" y="1589476"/>
            <a:ext cx="561860" cy="461665"/>
          </a:xfrm>
          <a:prstGeom prst="rect">
            <a:avLst/>
          </a:prstGeom>
          <a:noFill/>
        </p:spPr>
        <p:txBody>
          <a:bodyPr wrap="square" rtlCol="0">
            <a:spAutoFit/>
          </a:bodyPr>
          <a:lstStyle/>
          <a:p>
            <a:r>
              <a:rPr lang="en-US" sz="2400" dirty="0">
                <a:solidFill>
                  <a:schemeClr val="bg1"/>
                </a:solidFill>
              </a:rPr>
              <a:t>02</a:t>
            </a:r>
          </a:p>
        </p:txBody>
      </p:sp>
      <p:sp>
        <p:nvSpPr>
          <p:cNvPr id="19" name="TextBox 18">
            <a:extLst>
              <a:ext uri="{FF2B5EF4-FFF2-40B4-BE49-F238E27FC236}">
                <a16:creationId xmlns:a16="http://schemas.microsoft.com/office/drawing/2014/main" id="{79EE0146-64FB-08EC-0114-28B1E505228D}"/>
              </a:ext>
            </a:extLst>
          </p:cNvPr>
          <p:cNvSpPr txBox="1"/>
          <p:nvPr/>
        </p:nvSpPr>
        <p:spPr>
          <a:xfrm>
            <a:off x="6899839" y="2359399"/>
            <a:ext cx="561860" cy="461665"/>
          </a:xfrm>
          <a:prstGeom prst="rect">
            <a:avLst/>
          </a:prstGeom>
          <a:noFill/>
        </p:spPr>
        <p:txBody>
          <a:bodyPr wrap="square" rtlCol="0">
            <a:spAutoFit/>
          </a:bodyPr>
          <a:lstStyle/>
          <a:p>
            <a:r>
              <a:rPr lang="en-US" sz="2400" dirty="0">
                <a:solidFill>
                  <a:schemeClr val="bg1"/>
                </a:solidFill>
              </a:rPr>
              <a:t>03</a:t>
            </a:r>
          </a:p>
        </p:txBody>
      </p:sp>
      <p:sp>
        <p:nvSpPr>
          <p:cNvPr id="20" name="TextBox 19">
            <a:extLst>
              <a:ext uri="{FF2B5EF4-FFF2-40B4-BE49-F238E27FC236}">
                <a16:creationId xmlns:a16="http://schemas.microsoft.com/office/drawing/2014/main" id="{0B1AAEF5-DD93-9175-E10E-A0834970A2DF}"/>
              </a:ext>
            </a:extLst>
          </p:cNvPr>
          <p:cNvSpPr txBox="1"/>
          <p:nvPr/>
        </p:nvSpPr>
        <p:spPr>
          <a:xfrm>
            <a:off x="6870068" y="3138298"/>
            <a:ext cx="561860" cy="461665"/>
          </a:xfrm>
          <a:prstGeom prst="rect">
            <a:avLst/>
          </a:prstGeom>
          <a:noFill/>
        </p:spPr>
        <p:txBody>
          <a:bodyPr wrap="square" rtlCol="0">
            <a:spAutoFit/>
          </a:bodyPr>
          <a:lstStyle/>
          <a:p>
            <a:r>
              <a:rPr lang="en-US" sz="2400" dirty="0">
                <a:solidFill>
                  <a:schemeClr val="bg1"/>
                </a:solidFill>
              </a:rPr>
              <a:t>04</a:t>
            </a:r>
          </a:p>
        </p:txBody>
      </p:sp>
      <p:sp>
        <p:nvSpPr>
          <p:cNvPr id="21" name="TextBox 20">
            <a:extLst>
              <a:ext uri="{FF2B5EF4-FFF2-40B4-BE49-F238E27FC236}">
                <a16:creationId xmlns:a16="http://schemas.microsoft.com/office/drawing/2014/main" id="{458D4031-A39A-D76E-EDDD-E00D624B0220}"/>
              </a:ext>
            </a:extLst>
          </p:cNvPr>
          <p:cNvSpPr txBox="1"/>
          <p:nvPr/>
        </p:nvSpPr>
        <p:spPr>
          <a:xfrm>
            <a:off x="6880430" y="3915121"/>
            <a:ext cx="561860" cy="461665"/>
          </a:xfrm>
          <a:prstGeom prst="rect">
            <a:avLst/>
          </a:prstGeom>
          <a:noFill/>
        </p:spPr>
        <p:txBody>
          <a:bodyPr wrap="square" rtlCol="0">
            <a:spAutoFit/>
          </a:bodyPr>
          <a:lstStyle/>
          <a:p>
            <a:r>
              <a:rPr lang="en-US" sz="2400" dirty="0">
                <a:solidFill>
                  <a:schemeClr val="bg1"/>
                </a:solidFill>
              </a:rPr>
              <a:t>05</a:t>
            </a:r>
          </a:p>
        </p:txBody>
      </p:sp>
      <p:sp>
        <p:nvSpPr>
          <p:cNvPr id="22" name="TextBox 21">
            <a:extLst>
              <a:ext uri="{FF2B5EF4-FFF2-40B4-BE49-F238E27FC236}">
                <a16:creationId xmlns:a16="http://schemas.microsoft.com/office/drawing/2014/main" id="{DD55ED43-24CD-02C1-598A-BCACD5AAA6A1}"/>
              </a:ext>
            </a:extLst>
          </p:cNvPr>
          <p:cNvSpPr txBox="1"/>
          <p:nvPr/>
        </p:nvSpPr>
        <p:spPr>
          <a:xfrm>
            <a:off x="6899839" y="4803809"/>
            <a:ext cx="561860" cy="461665"/>
          </a:xfrm>
          <a:prstGeom prst="rect">
            <a:avLst/>
          </a:prstGeom>
          <a:noFill/>
        </p:spPr>
        <p:txBody>
          <a:bodyPr wrap="square" rtlCol="0">
            <a:spAutoFit/>
          </a:bodyPr>
          <a:lstStyle/>
          <a:p>
            <a:r>
              <a:rPr lang="en-US" sz="2400" dirty="0">
                <a:solidFill>
                  <a:schemeClr val="bg1"/>
                </a:solidFill>
              </a:rPr>
              <a:t>06</a:t>
            </a:r>
          </a:p>
        </p:txBody>
      </p:sp>
      <p:sp>
        <p:nvSpPr>
          <p:cNvPr id="23" name="TextBox 22">
            <a:extLst>
              <a:ext uri="{FF2B5EF4-FFF2-40B4-BE49-F238E27FC236}">
                <a16:creationId xmlns:a16="http://schemas.microsoft.com/office/drawing/2014/main" id="{3E81957B-8920-A04A-515F-52790E9C99FD}"/>
              </a:ext>
            </a:extLst>
          </p:cNvPr>
          <p:cNvSpPr txBox="1"/>
          <p:nvPr/>
        </p:nvSpPr>
        <p:spPr>
          <a:xfrm>
            <a:off x="6861676" y="5598469"/>
            <a:ext cx="561860" cy="461665"/>
          </a:xfrm>
          <a:prstGeom prst="rect">
            <a:avLst/>
          </a:prstGeom>
          <a:noFill/>
        </p:spPr>
        <p:txBody>
          <a:bodyPr wrap="square" rtlCol="0">
            <a:spAutoFit/>
          </a:bodyPr>
          <a:lstStyle/>
          <a:p>
            <a:r>
              <a:rPr lang="en-US" sz="2400" dirty="0">
                <a:solidFill>
                  <a:schemeClr val="bg1"/>
                </a:solidFill>
              </a:rPr>
              <a:t>07</a:t>
            </a:r>
          </a:p>
        </p:txBody>
      </p:sp>
      <p:sp>
        <p:nvSpPr>
          <p:cNvPr id="24" name="TextBox 23">
            <a:extLst>
              <a:ext uri="{FF2B5EF4-FFF2-40B4-BE49-F238E27FC236}">
                <a16:creationId xmlns:a16="http://schemas.microsoft.com/office/drawing/2014/main" id="{E5D9AA61-2E8D-3EED-7DE1-F3180F537CB7}"/>
              </a:ext>
            </a:extLst>
          </p:cNvPr>
          <p:cNvSpPr txBox="1"/>
          <p:nvPr/>
        </p:nvSpPr>
        <p:spPr>
          <a:xfrm>
            <a:off x="1408259" y="2754494"/>
            <a:ext cx="3029638" cy="769441"/>
          </a:xfrm>
          <a:prstGeom prst="rect">
            <a:avLst/>
          </a:prstGeom>
          <a:noFill/>
        </p:spPr>
        <p:txBody>
          <a:bodyPr wrap="square" rtlCol="0">
            <a:spAutoFit/>
          </a:bodyPr>
          <a:lstStyle/>
          <a:p>
            <a:pPr algn="ctr"/>
            <a:r>
              <a:rPr lang="en-US" sz="4400" dirty="0">
                <a:solidFill>
                  <a:schemeClr val="accent1">
                    <a:lumMod val="50000"/>
                  </a:schemeClr>
                </a:solidFill>
                <a:latin typeface="Aharoni" panose="02010803020104030203" pitchFamily="2" charset="-79"/>
                <a:cs typeface="Aharoni" panose="02010803020104030203" pitchFamily="2" charset="-79"/>
              </a:rPr>
              <a:t>CONTENTS</a:t>
            </a:r>
          </a:p>
        </p:txBody>
      </p:sp>
      <p:sp>
        <p:nvSpPr>
          <p:cNvPr id="28" name="TextBox 27">
            <a:extLst>
              <a:ext uri="{FF2B5EF4-FFF2-40B4-BE49-F238E27FC236}">
                <a16:creationId xmlns:a16="http://schemas.microsoft.com/office/drawing/2014/main" id="{34491B12-680D-1F68-71A8-D352F9431E47}"/>
              </a:ext>
            </a:extLst>
          </p:cNvPr>
          <p:cNvSpPr txBox="1"/>
          <p:nvPr/>
        </p:nvSpPr>
        <p:spPr>
          <a:xfrm>
            <a:off x="7281494" y="841398"/>
            <a:ext cx="3424014" cy="369332"/>
          </a:xfrm>
          <a:prstGeom prst="rect">
            <a:avLst/>
          </a:prstGeom>
          <a:noFill/>
        </p:spPr>
        <p:txBody>
          <a:bodyPr wrap="square" rtlCol="0">
            <a:spAutoFit/>
          </a:bodyPr>
          <a:lstStyle/>
          <a:p>
            <a:r>
              <a:rPr lang="en-US" dirty="0">
                <a:solidFill>
                  <a:schemeClr val="bg1"/>
                </a:solidFill>
              </a:rPr>
              <a:t>Introduction to ICT</a:t>
            </a:r>
          </a:p>
        </p:txBody>
      </p:sp>
      <p:pic>
        <p:nvPicPr>
          <p:cNvPr id="30" name="Graphic 29" descr="Head with Gears">
            <a:extLst>
              <a:ext uri="{FF2B5EF4-FFF2-40B4-BE49-F238E27FC236}">
                <a16:creationId xmlns:a16="http://schemas.microsoft.com/office/drawing/2014/main" id="{B7339DD1-8F24-DD12-6F98-FD95B2A89A9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3114" y="776094"/>
            <a:ext cx="461665" cy="461665"/>
          </a:xfrm>
          <a:prstGeom prst="rect">
            <a:avLst/>
          </a:prstGeom>
        </p:spPr>
      </p:pic>
      <p:sp>
        <p:nvSpPr>
          <p:cNvPr id="31" name="TextBox 30">
            <a:extLst>
              <a:ext uri="{FF2B5EF4-FFF2-40B4-BE49-F238E27FC236}">
                <a16:creationId xmlns:a16="http://schemas.microsoft.com/office/drawing/2014/main" id="{0B566E6D-C2CB-841E-1EFC-5DB2E01D9C95}"/>
              </a:ext>
            </a:extLst>
          </p:cNvPr>
          <p:cNvSpPr txBox="1"/>
          <p:nvPr/>
        </p:nvSpPr>
        <p:spPr>
          <a:xfrm>
            <a:off x="7281494" y="1640018"/>
            <a:ext cx="3004325" cy="369332"/>
          </a:xfrm>
          <a:prstGeom prst="rect">
            <a:avLst/>
          </a:prstGeom>
          <a:noFill/>
        </p:spPr>
        <p:txBody>
          <a:bodyPr wrap="square" rtlCol="0">
            <a:spAutoFit/>
          </a:bodyPr>
          <a:lstStyle/>
          <a:p>
            <a:r>
              <a:rPr lang="en-US" dirty="0">
                <a:solidFill>
                  <a:schemeClr val="bg1"/>
                </a:solidFill>
              </a:rPr>
              <a:t>Key Components of ICT</a:t>
            </a:r>
          </a:p>
        </p:txBody>
      </p:sp>
      <p:pic>
        <p:nvPicPr>
          <p:cNvPr id="33" name="Graphic 32" descr="Clipboard Checked with solid fill">
            <a:extLst>
              <a:ext uri="{FF2B5EF4-FFF2-40B4-BE49-F238E27FC236}">
                <a16:creationId xmlns:a16="http://schemas.microsoft.com/office/drawing/2014/main" id="{174842CC-BDBA-CE6F-CAF7-9637564EED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24101" y="1560359"/>
            <a:ext cx="461665" cy="461665"/>
          </a:xfrm>
          <a:prstGeom prst="rect">
            <a:avLst/>
          </a:prstGeom>
        </p:spPr>
      </p:pic>
      <p:sp>
        <p:nvSpPr>
          <p:cNvPr id="34" name="TextBox 33">
            <a:extLst>
              <a:ext uri="{FF2B5EF4-FFF2-40B4-BE49-F238E27FC236}">
                <a16:creationId xmlns:a16="http://schemas.microsoft.com/office/drawing/2014/main" id="{62FFC10B-253C-77B6-05F5-5FF2632A4779}"/>
              </a:ext>
            </a:extLst>
          </p:cNvPr>
          <p:cNvSpPr txBox="1"/>
          <p:nvPr/>
        </p:nvSpPr>
        <p:spPr>
          <a:xfrm>
            <a:off x="7369628" y="2407754"/>
            <a:ext cx="2335576" cy="400110"/>
          </a:xfrm>
          <a:prstGeom prst="rect">
            <a:avLst/>
          </a:prstGeom>
          <a:noFill/>
        </p:spPr>
        <p:txBody>
          <a:bodyPr wrap="square" rtlCol="0">
            <a:spAutoFit/>
          </a:bodyPr>
          <a:lstStyle/>
          <a:p>
            <a:r>
              <a:rPr lang="en-US" sz="2000" dirty="0">
                <a:solidFill>
                  <a:schemeClr val="bg1"/>
                </a:solidFill>
              </a:rPr>
              <a:t>ICT in Business</a:t>
            </a:r>
          </a:p>
        </p:txBody>
      </p:sp>
      <p:pic>
        <p:nvPicPr>
          <p:cNvPr id="36" name="Graphic 35" descr="Angel face with solid fill with solid fill">
            <a:extLst>
              <a:ext uri="{FF2B5EF4-FFF2-40B4-BE49-F238E27FC236}">
                <a16:creationId xmlns:a16="http://schemas.microsoft.com/office/drawing/2014/main" id="{32408ED3-BE27-3442-600D-A380A0399DA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40032" y="2305052"/>
            <a:ext cx="587828" cy="587828"/>
          </a:xfrm>
          <a:prstGeom prst="rect">
            <a:avLst/>
          </a:prstGeom>
        </p:spPr>
      </p:pic>
      <p:sp>
        <p:nvSpPr>
          <p:cNvPr id="37" name="TextBox 36">
            <a:extLst>
              <a:ext uri="{FF2B5EF4-FFF2-40B4-BE49-F238E27FC236}">
                <a16:creationId xmlns:a16="http://schemas.microsoft.com/office/drawing/2014/main" id="{EB34A8A5-40C9-8429-087F-B2D92293CB70}"/>
              </a:ext>
            </a:extLst>
          </p:cNvPr>
          <p:cNvSpPr txBox="1"/>
          <p:nvPr/>
        </p:nvSpPr>
        <p:spPr>
          <a:xfrm>
            <a:off x="7363399" y="3217512"/>
            <a:ext cx="2505941" cy="400110"/>
          </a:xfrm>
          <a:prstGeom prst="rect">
            <a:avLst/>
          </a:prstGeom>
          <a:noFill/>
        </p:spPr>
        <p:txBody>
          <a:bodyPr wrap="square" rtlCol="0">
            <a:spAutoFit/>
          </a:bodyPr>
          <a:lstStyle/>
          <a:p>
            <a:r>
              <a:rPr lang="en-US" sz="2000" dirty="0">
                <a:solidFill>
                  <a:schemeClr val="bg1"/>
                </a:solidFill>
              </a:rPr>
              <a:t>ICT in Healthcare</a:t>
            </a:r>
          </a:p>
        </p:txBody>
      </p:sp>
      <p:pic>
        <p:nvPicPr>
          <p:cNvPr id="47" name="Graphic 46" descr="Ambulance with solid fill">
            <a:extLst>
              <a:ext uri="{FF2B5EF4-FFF2-40B4-BE49-F238E27FC236}">
                <a16:creationId xmlns:a16="http://schemas.microsoft.com/office/drawing/2014/main" id="{F40A9A3C-1BE7-157D-6181-BAE1410D42F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66461" y="3080658"/>
            <a:ext cx="576943" cy="576943"/>
          </a:xfrm>
          <a:prstGeom prst="rect">
            <a:avLst/>
          </a:prstGeom>
        </p:spPr>
      </p:pic>
      <p:sp>
        <p:nvSpPr>
          <p:cNvPr id="48" name="TextBox 47">
            <a:extLst>
              <a:ext uri="{FF2B5EF4-FFF2-40B4-BE49-F238E27FC236}">
                <a16:creationId xmlns:a16="http://schemas.microsoft.com/office/drawing/2014/main" id="{210AE512-C751-B132-AA02-44594DB31F15}"/>
              </a:ext>
            </a:extLst>
          </p:cNvPr>
          <p:cNvSpPr txBox="1"/>
          <p:nvPr/>
        </p:nvSpPr>
        <p:spPr>
          <a:xfrm>
            <a:off x="7333595" y="3954194"/>
            <a:ext cx="2407641" cy="400110"/>
          </a:xfrm>
          <a:prstGeom prst="rect">
            <a:avLst/>
          </a:prstGeom>
          <a:noFill/>
        </p:spPr>
        <p:txBody>
          <a:bodyPr wrap="square" rtlCol="0">
            <a:spAutoFit/>
          </a:bodyPr>
          <a:lstStyle/>
          <a:p>
            <a:r>
              <a:rPr lang="en-US" sz="2000" dirty="0">
                <a:solidFill>
                  <a:schemeClr val="bg1"/>
                </a:solidFill>
              </a:rPr>
              <a:t>Challenges</a:t>
            </a:r>
            <a:r>
              <a:rPr lang="en-US" dirty="0">
                <a:solidFill>
                  <a:schemeClr val="bg1"/>
                </a:solidFill>
              </a:rPr>
              <a:t> in ICT</a:t>
            </a:r>
          </a:p>
        </p:txBody>
      </p:sp>
      <p:sp>
        <p:nvSpPr>
          <p:cNvPr id="49" name="TextBox 48">
            <a:extLst>
              <a:ext uri="{FF2B5EF4-FFF2-40B4-BE49-F238E27FC236}">
                <a16:creationId xmlns:a16="http://schemas.microsoft.com/office/drawing/2014/main" id="{E6B8169A-90E8-302F-294F-EE3DB5162BB1}"/>
              </a:ext>
            </a:extLst>
          </p:cNvPr>
          <p:cNvSpPr txBox="1"/>
          <p:nvPr/>
        </p:nvSpPr>
        <p:spPr>
          <a:xfrm>
            <a:off x="7343956" y="4848650"/>
            <a:ext cx="2279537" cy="369332"/>
          </a:xfrm>
          <a:prstGeom prst="rect">
            <a:avLst/>
          </a:prstGeom>
          <a:noFill/>
        </p:spPr>
        <p:txBody>
          <a:bodyPr wrap="square" rtlCol="0">
            <a:spAutoFit/>
          </a:bodyPr>
          <a:lstStyle/>
          <a:p>
            <a:r>
              <a:rPr lang="en-US" dirty="0">
                <a:solidFill>
                  <a:schemeClr val="bg1"/>
                </a:solidFill>
              </a:rPr>
              <a:t>Future Trends in ICT</a:t>
            </a:r>
          </a:p>
        </p:txBody>
      </p:sp>
      <p:sp>
        <p:nvSpPr>
          <p:cNvPr id="50" name="TextBox 49">
            <a:extLst>
              <a:ext uri="{FF2B5EF4-FFF2-40B4-BE49-F238E27FC236}">
                <a16:creationId xmlns:a16="http://schemas.microsoft.com/office/drawing/2014/main" id="{FD19F42C-627A-604C-0CF1-926CC7AE5548}"/>
              </a:ext>
            </a:extLst>
          </p:cNvPr>
          <p:cNvSpPr txBox="1"/>
          <p:nvPr/>
        </p:nvSpPr>
        <p:spPr>
          <a:xfrm>
            <a:off x="7363399" y="5582633"/>
            <a:ext cx="2739715" cy="461665"/>
          </a:xfrm>
          <a:prstGeom prst="rect">
            <a:avLst/>
          </a:prstGeom>
          <a:noFill/>
        </p:spPr>
        <p:txBody>
          <a:bodyPr wrap="square" rtlCol="0">
            <a:spAutoFit/>
          </a:bodyPr>
          <a:lstStyle/>
          <a:p>
            <a:r>
              <a:rPr lang="en-US" sz="2400" dirty="0">
                <a:solidFill>
                  <a:schemeClr val="bg1"/>
                </a:solidFill>
              </a:rPr>
              <a:t>Conclusion</a:t>
            </a:r>
          </a:p>
        </p:txBody>
      </p:sp>
      <p:pic>
        <p:nvPicPr>
          <p:cNvPr id="52" name="Graphic 51" descr="Airplane with solid fill">
            <a:extLst>
              <a:ext uri="{FF2B5EF4-FFF2-40B4-BE49-F238E27FC236}">
                <a16:creationId xmlns:a16="http://schemas.microsoft.com/office/drawing/2014/main" id="{80DD2F41-E1F4-C6CB-C296-529B9923232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029658" y="3852040"/>
            <a:ext cx="650548" cy="650548"/>
          </a:xfrm>
          <a:prstGeom prst="rect">
            <a:avLst/>
          </a:prstGeom>
        </p:spPr>
      </p:pic>
      <p:pic>
        <p:nvPicPr>
          <p:cNvPr id="54" name="Graphic 53" descr="Backpack with solid fill">
            <a:extLst>
              <a:ext uri="{FF2B5EF4-FFF2-40B4-BE49-F238E27FC236}">
                <a16:creationId xmlns:a16="http://schemas.microsoft.com/office/drawing/2014/main" id="{F803C8D3-3298-25D0-6454-1A719A15731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103114" y="4754551"/>
            <a:ext cx="557530" cy="557530"/>
          </a:xfrm>
          <a:prstGeom prst="rect">
            <a:avLst/>
          </a:prstGeom>
        </p:spPr>
      </p:pic>
      <p:pic>
        <p:nvPicPr>
          <p:cNvPr id="56" name="Graphic 55" descr="Alien Face with solid fill">
            <a:extLst>
              <a:ext uri="{FF2B5EF4-FFF2-40B4-BE49-F238E27FC236}">
                <a16:creationId xmlns:a16="http://schemas.microsoft.com/office/drawing/2014/main" id="{CE15BDEC-05BA-F5ED-112F-01F5C37DE68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081345" y="5565686"/>
            <a:ext cx="557530" cy="557530"/>
          </a:xfrm>
          <a:prstGeom prst="rect">
            <a:avLst/>
          </a:prstGeom>
        </p:spPr>
      </p:pic>
      <p:pic>
        <p:nvPicPr>
          <p:cNvPr id="25" name="the_topics_we_are_covering_is_introduction_to_inferred">
            <a:hlinkClick r:id="" action="ppaction://media"/>
            <a:extLst>
              <a:ext uri="{FF2B5EF4-FFF2-40B4-BE49-F238E27FC236}">
                <a16:creationId xmlns:a16="http://schemas.microsoft.com/office/drawing/2014/main" id="{00CC848E-7CDD-46B7-D26B-671C5977F8B4}"/>
              </a:ext>
            </a:extLst>
          </p:cNvPr>
          <p:cNvPicPr>
            <a:picLocks noChangeAspect="1"/>
          </p:cNvPicPr>
          <p:nvPr>
            <a:audioFile r:link="rId3"/>
            <p:extLst>
              <p:ext uri="{DAA4B4D4-6D71-4841-9C94-3DE7FCFB9230}">
                <p14:media xmlns:p14="http://schemas.microsoft.com/office/powerpoint/2010/main" r:embed="rId2"/>
              </p:ext>
            </p:extLst>
          </p:nvPr>
        </p:nvPicPr>
        <p:blipFill>
          <a:blip r:embed="rId19"/>
          <a:stretch>
            <a:fillRect/>
          </a:stretch>
        </p:blipFill>
        <p:spPr>
          <a:xfrm>
            <a:off x="5892800" y="3225800"/>
            <a:ext cx="406400" cy="406400"/>
          </a:xfrm>
          <a:prstGeom prst="rect">
            <a:avLst/>
          </a:prstGeom>
        </p:spPr>
      </p:pic>
    </p:spTree>
    <p:custDataLst>
      <p:tags r:id="rId1"/>
    </p:custDataLst>
    <p:extLst>
      <p:ext uri="{BB962C8B-B14F-4D97-AF65-F5344CB8AC3E}">
        <p14:creationId xmlns:p14="http://schemas.microsoft.com/office/powerpoint/2010/main" val="1238515395"/>
      </p:ext>
    </p:extLst>
  </p:cSld>
  <p:clrMapOvr>
    <a:masterClrMapping/>
  </p:clrMapOvr>
  <mc:AlternateContent xmlns:mc="http://schemas.openxmlformats.org/markup-compatibility/2006">
    <mc:Choice xmlns:p14="http://schemas.microsoft.com/office/powerpoint/2010/main" Requires="p14">
      <p:transition spd="slow" p14:dur="1500" advTm="21793">
        <p:split orient="vert"/>
      </p:transition>
    </mc:Choice>
    <mc:Fallback>
      <p:transition spd="slow" advTm="21793">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500"/>
                                        <p:tgtEl>
                                          <p:spTgt spid="6"/>
                                        </p:tgtEl>
                                      </p:cBhvr>
                                    </p:animEffect>
                                  </p:childTnLst>
                                </p:cTn>
                              </p:par>
                            </p:childTnLst>
                          </p:cTn>
                        </p:par>
                        <p:par>
                          <p:cTn id="15" fill="hold">
                            <p:stCondLst>
                              <p:cond delay="500"/>
                            </p:stCondLst>
                            <p:childTnLst>
                              <p:par>
                                <p:cTn id="16" presetID="22" presetClass="entr" presetSubtype="4"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par>
                          <p:cTn id="24" fill="hold">
                            <p:stCondLst>
                              <p:cond delay="500"/>
                            </p:stCondLst>
                            <p:childTnLst>
                              <p:par>
                                <p:cTn id="25" presetID="22" presetClass="entr" presetSubtype="4"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par>
                          <p:cTn id="28" fill="hold">
                            <p:stCondLst>
                              <p:cond delay="1000"/>
                            </p:stCondLst>
                            <p:childTnLst>
                              <p:par>
                                <p:cTn id="29" presetID="22" presetClass="entr" presetSubtype="4"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down)">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right)">
                                      <p:cBhvr>
                                        <p:cTn id="36" dur="500"/>
                                        <p:tgtEl>
                                          <p:spTgt spid="12"/>
                                        </p:tgtEl>
                                      </p:cBhvr>
                                    </p:animEffect>
                                  </p:childTnLst>
                                </p:cTn>
                              </p:par>
                            </p:childTnLst>
                          </p:cTn>
                        </p:par>
                        <p:par>
                          <p:cTn id="37" fill="hold">
                            <p:stCondLst>
                              <p:cond delay="500"/>
                            </p:stCondLst>
                            <p:childTnLst>
                              <p:par>
                                <p:cTn id="38" presetID="22" presetClass="entr" presetSubtype="4" fill="hold" grpId="0"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down)">
                                      <p:cBhvr>
                                        <p:cTn id="40" dur="500"/>
                                        <p:tgtEl>
                                          <p:spTgt spid="5"/>
                                        </p:tgtEl>
                                      </p:cBhvr>
                                    </p:animEffect>
                                  </p:childTnLst>
                                </p:cTn>
                              </p:par>
                            </p:childTnLst>
                          </p:cTn>
                        </p:par>
                        <p:par>
                          <p:cTn id="41" fill="hold">
                            <p:stCondLst>
                              <p:cond delay="1000"/>
                            </p:stCondLst>
                            <p:childTnLst>
                              <p:par>
                                <p:cTn id="42" presetID="22" presetClass="entr" presetSubtype="2"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right)">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right)">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right)">
                                      <p:cBhvr>
                                        <p:cTn id="59" dur="500"/>
                                        <p:tgtEl>
                                          <p:spTgt spid="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grpId="0" nodeType="click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wipe(right)">
                                      <p:cBhvr>
                                        <p:cTn id="64" dur="500"/>
                                        <p:tgtEl>
                                          <p:spTgt spid="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grpId="0"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wipe(right)">
                                      <p:cBhvr>
                                        <p:cTn id="69" dur="500"/>
                                        <p:tgtEl>
                                          <p:spTgt spid="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2" fill="hold" grpId="0" nodeType="click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wipe(right)">
                                      <p:cBhvr>
                                        <p:cTn id="74" dur="500"/>
                                        <p:tgtEl>
                                          <p:spTgt spid="14"/>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 calcmode="lin" valueType="num">
                                      <p:cBhvr>
                                        <p:cTn id="79" dur="500" fill="hold"/>
                                        <p:tgtEl>
                                          <p:spTgt spid="30"/>
                                        </p:tgtEl>
                                        <p:attrNameLst>
                                          <p:attrName>ppt_w</p:attrName>
                                        </p:attrNameLst>
                                      </p:cBhvr>
                                      <p:tavLst>
                                        <p:tav tm="0">
                                          <p:val>
                                            <p:fltVal val="0"/>
                                          </p:val>
                                        </p:tav>
                                        <p:tav tm="100000">
                                          <p:val>
                                            <p:strVal val="#ppt_w"/>
                                          </p:val>
                                        </p:tav>
                                      </p:tavLst>
                                    </p:anim>
                                    <p:anim calcmode="lin" valueType="num">
                                      <p:cBhvr>
                                        <p:cTn id="80" dur="500" fill="hold"/>
                                        <p:tgtEl>
                                          <p:spTgt spid="30"/>
                                        </p:tgtEl>
                                        <p:attrNameLst>
                                          <p:attrName>ppt_h</p:attrName>
                                        </p:attrNameLst>
                                      </p:cBhvr>
                                      <p:tavLst>
                                        <p:tav tm="0">
                                          <p:val>
                                            <p:fltVal val="0"/>
                                          </p:val>
                                        </p:tav>
                                        <p:tav tm="100000">
                                          <p:val>
                                            <p:strVal val="#ppt_h"/>
                                          </p:val>
                                        </p:tav>
                                      </p:tavLst>
                                    </p:anim>
                                    <p:animEffect transition="in" filter="fade">
                                      <p:cBhvr>
                                        <p:cTn id="81" dur="50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wipe(down)">
                                      <p:cBhvr>
                                        <p:cTn id="86" dur="500"/>
                                        <p:tgtEl>
                                          <p:spTgt spid="28"/>
                                        </p:tgtEl>
                                      </p:cBhvr>
                                    </p:animEffect>
                                  </p:childTnLst>
                                </p:cTn>
                              </p:par>
                            </p:childTnLst>
                          </p:cTn>
                        </p:par>
                        <p:par>
                          <p:cTn id="87" fill="hold">
                            <p:stCondLst>
                              <p:cond delay="500"/>
                            </p:stCondLst>
                            <p:childTnLst>
                              <p:par>
                                <p:cTn id="88" presetID="22" presetClass="entr" presetSubtype="4" fill="hold" grpId="0" nodeType="after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wipe(down)">
                                      <p:cBhvr>
                                        <p:cTn id="90" dur="500"/>
                                        <p:tgtEl>
                                          <p:spTgt spid="18"/>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wipe(down)">
                                      <p:cBhvr>
                                        <p:cTn id="93" dur="500"/>
                                        <p:tgtEl>
                                          <p:spTgt spid="31"/>
                                        </p:tgtEl>
                                      </p:cBhvr>
                                    </p:animEffect>
                                  </p:childTnLst>
                                </p:cTn>
                              </p:par>
                            </p:childTnLst>
                          </p:cTn>
                        </p:par>
                        <p:par>
                          <p:cTn id="94" fill="hold">
                            <p:stCondLst>
                              <p:cond delay="1000"/>
                            </p:stCondLst>
                            <p:childTnLst>
                              <p:par>
                                <p:cTn id="95" presetID="22" presetClass="entr" presetSubtype="4" fill="hold" grpId="0" nodeType="afterEffect">
                                  <p:stCondLst>
                                    <p:cond delay="0"/>
                                  </p:stCondLst>
                                  <p:childTnLst>
                                    <p:set>
                                      <p:cBhvr>
                                        <p:cTn id="96" dur="1" fill="hold">
                                          <p:stCondLst>
                                            <p:cond delay="0"/>
                                          </p:stCondLst>
                                        </p:cTn>
                                        <p:tgtEl>
                                          <p:spTgt spid="19"/>
                                        </p:tgtEl>
                                        <p:attrNameLst>
                                          <p:attrName>style.visibility</p:attrName>
                                        </p:attrNameLst>
                                      </p:cBhvr>
                                      <p:to>
                                        <p:strVal val="visible"/>
                                      </p:to>
                                    </p:set>
                                    <p:animEffect transition="in" filter="wipe(down)">
                                      <p:cBhvr>
                                        <p:cTn id="97" dur="500"/>
                                        <p:tgtEl>
                                          <p:spTgt spid="19"/>
                                        </p:tgtEl>
                                      </p:cBhvr>
                                    </p:animEffect>
                                  </p:childTnLst>
                                </p:cTn>
                              </p:par>
                            </p:childTnLst>
                          </p:cTn>
                        </p:par>
                        <p:par>
                          <p:cTn id="98" fill="hold">
                            <p:stCondLst>
                              <p:cond delay="1500"/>
                            </p:stCondLst>
                            <p:childTnLst>
                              <p:par>
                                <p:cTn id="99" presetID="22" presetClass="entr" presetSubtype="4" fill="hold" nodeType="after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wipe(down)">
                                      <p:cBhvr>
                                        <p:cTn id="101" dur="500"/>
                                        <p:tgtEl>
                                          <p:spTgt spid="36"/>
                                        </p:tgtEl>
                                      </p:cBhvr>
                                    </p:animEffect>
                                  </p:childTnLst>
                                </p:cTn>
                              </p:par>
                              <p:par>
                                <p:cTn id="102" presetID="22" presetClass="entr" presetSubtype="4"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wipe(down)">
                                      <p:cBhvr>
                                        <p:cTn id="104" dur="500"/>
                                        <p:tgtEl>
                                          <p:spTgt spid="34"/>
                                        </p:tgtEl>
                                      </p:cBhvr>
                                    </p:animEffect>
                                  </p:childTnLst>
                                </p:cTn>
                              </p:par>
                            </p:childTnLst>
                          </p:cTn>
                        </p:par>
                        <p:par>
                          <p:cTn id="105" fill="hold">
                            <p:stCondLst>
                              <p:cond delay="2000"/>
                            </p:stCondLst>
                            <p:childTnLst>
                              <p:par>
                                <p:cTn id="106" presetID="22" presetClass="entr" presetSubtype="4" fill="hold" grpId="0" nodeType="afterEffect">
                                  <p:stCondLst>
                                    <p:cond delay="0"/>
                                  </p:stCondLst>
                                  <p:childTnLst>
                                    <p:set>
                                      <p:cBhvr>
                                        <p:cTn id="107" dur="1" fill="hold">
                                          <p:stCondLst>
                                            <p:cond delay="0"/>
                                          </p:stCondLst>
                                        </p:cTn>
                                        <p:tgtEl>
                                          <p:spTgt spid="20"/>
                                        </p:tgtEl>
                                        <p:attrNameLst>
                                          <p:attrName>style.visibility</p:attrName>
                                        </p:attrNameLst>
                                      </p:cBhvr>
                                      <p:to>
                                        <p:strVal val="visible"/>
                                      </p:to>
                                    </p:set>
                                    <p:animEffect transition="in" filter="wipe(down)">
                                      <p:cBhvr>
                                        <p:cTn id="108" dur="500"/>
                                        <p:tgtEl>
                                          <p:spTgt spid="20"/>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wipe(down)">
                                      <p:cBhvr>
                                        <p:cTn id="111" dur="500"/>
                                        <p:tgtEl>
                                          <p:spTgt spid="37"/>
                                        </p:tgtEl>
                                      </p:cBhvr>
                                    </p:animEffect>
                                  </p:childTnLst>
                                </p:cTn>
                              </p:par>
                            </p:childTnLst>
                          </p:cTn>
                        </p:par>
                        <p:par>
                          <p:cTn id="112" fill="hold">
                            <p:stCondLst>
                              <p:cond delay="2500"/>
                            </p:stCondLst>
                            <p:childTnLst>
                              <p:par>
                                <p:cTn id="113" presetID="22" presetClass="entr" presetSubtype="4" fill="hold" grpId="0" nodeType="after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wipe(down)">
                                      <p:cBhvr>
                                        <p:cTn id="115" dur="500"/>
                                        <p:tgtEl>
                                          <p:spTgt spid="21"/>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48"/>
                                        </p:tgtEl>
                                        <p:attrNameLst>
                                          <p:attrName>style.visibility</p:attrName>
                                        </p:attrNameLst>
                                      </p:cBhvr>
                                      <p:to>
                                        <p:strVal val="visible"/>
                                      </p:to>
                                    </p:set>
                                    <p:animEffect transition="in" filter="wipe(down)">
                                      <p:cBhvr>
                                        <p:cTn id="118" dur="500"/>
                                        <p:tgtEl>
                                          <p:spTgt spid="48"/>
                                        </p:tgtEl>
                                      </p:cBhvr>
                                    </p:animEffect>
                                  </p:childTnLst>
                                </p:cTn>
                              </p:par>
                            </p:childTnLst>
                          </p:cTn>
                        </p:par>
                        <p:par>
                          <p:cTn id="119" fill="hold">
                            <p:stCondLst>
                              <p:cond delay="3000"/>
                            </p:stCondLst>
                            <p:childTnLst>
                              <p:par>
                                <p:cTn id="120" presetID="22" presetClass="entr" presetSubtype="4" fill="hold" grpId="0" nodeType="afterEffect">
                                  <p:stCondLst>
                                    <p:cond delay="0"/>
                                  </p:stCondLst>
                                  <p:childTnLst>
                                    <p:set>
                                      <p:cBhvr>
                                        <p:cTn id="121" dur="1" fill="hold">
                                          <p:stCondLst>
                                            <p:cond delay="0"/>
                                          </p:stCondLst>
                                        </p:cTn>
                                        <p:tgtEl>
                                          <p:spTgt spid="22"/>
                                        </p:tgtEl>
                                        <p:attrNameLst>
                                          <p:attrName>style.visibility</p:attrName>
                                        </p:attrNameLst>
                                      </p:cBhvr>
                                      <p:to>
                                        <p:strVal val="visible"/>
                                      </p:to>
                                    </p:set>
                                    <p:animEffect transition="in" filter="wipe(down)">
                                      <p:cBhvr>
                                        <p:cTn id="122" dur="500"/>
                                        <p:tgtEl>
                                          <p:spTgt spid="22"/>
                                        </p:tgtEl>
                                      </p:cBhvr>
                                    </p:animEffect>
                                  </p:childTnLst>
                                </p:cTn>
                              </p:par>
                            </p:childTnLst>
                          </p:cTn>
                        </p:par>
                        <p:par>
                          <p:cTn id="123" fill="hold">
                            <p:stCondLst>
                              <p:cond delay="3500"/>
                            </p:stCondLst>
                            <p:childTnLst>
                              <p:par>
                                <p:cTn id="124" presetID="22" presetClass="entr" presetSubtype="4" fill="hold" nodeType="afterEffect">
                                  <p:stCondLst>
                                    <p:cond delay="0"/>
                                  </p:stCondLst>
                                  <p:childTnLst>
                                    <p:set>
                                      <p:cBhvr>
                                        <p:cTn id="125" dur="1" fill="hold">
                                          <p:stCondLst>
                                            <p:cond delay="0"/>
                                          </p:stCondLst>
                                        </p:cTn>
                                        <p:tgtEl>
                                          <p:spTgt spid="54"/>
                                        </p:tgtEl>
                                        <p:attrNameLst>
                                          <p:attrName>style.visibility</p:attrName>
                                        </p:attrNameLst>
                                      </p:cBhvr>
                                      <p:to>
                                        <p:strVal val="visible"/>
                                      </p:to>
                                    </p:set>
                                    <p:animEffect transition="in" filter="wipe(down)">
                                      <p:cBhvr>
                                        <p:cTn id="126" dur="500"/>
                                        <p:tgtEl>
                                          <p:spTgt spid="54"/>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49"/>
                                        </p:tgtEl>
                                        <p:attrNameLst>
                                          <p:attrName>style.visibility</p:attrName>
                                        </p:attrNameLst>
                                      </p:cBhvr>
                                      <p:to>
                                        <p:strVal val="visible"/>
                                      </p:to>
                                    </p:set>
                                    <p:animEffect transition="in" filter="wipe(down)">
                                      <p:cBhvr>
                                        <p:cTn id="129" dur="500"/>
                                        <p:tgtEl>
                                          <p:spTgt spid="49"/>
                                        </p:tgtEl>
                                      </p:cBhvr>
                                    </p:animEffect>
                                  </p:childTnLst>
                                </p:cTn>
                              </p:par>
                            </p:childTnLst>
                          </p:cTn>
                        </p:par>
                        <p:par>
                          <p:cTn id="130" fill="hold">
                            <p:stCondLst>
                              <p:cond delay="4000"/>
                            </p:stCondLst>
                            <p:childTnLst>
                              <p:par>
                                <p:cTn id="131" presetID="22" presetClass="entr" presetSubtype="4" fill="hold" grpId="0" nodeType="afterEffect">
                                  <p:stCondLst>
                                    <p:cond delay="0"/>
                                  </p:stCondLst>
                                  <p:childTnLst>
                                    <p:set>
                                      <p:cBhvr>
                                        <p:cTn id="132" dur="1" fill="hold">
                                          <p:stCondLst>
                                            <p:cond delay="0"/>
                                          </p:stCondLst>
                                        </p:cTn>
                                        <p:tgtEl>
                                          <p:spTgt spid="23"/>
                                        </p:tgtEl>
                                        <p:attrNameLst>
                                          <p:attrName>style.visibility</p:attrName>
                                        </p:attrNameLst>
                                      </p:cBhvr>
                                      <p:to>
                                        <p:strVal val="visible"/>
                                      </p:to>
                                    </p:set>
                                    <p:animEffect transition="in" filter="wipe(down)">
                                      <p:cBhvr>
                                        <p:cTn id="133" dur="500"/>
                                        <p:tgtEl>
                                          <p:spTgt spid="23"/>
                                        </p:tgtEl>
                                      </p:cBhvr>
                                    </p:animEffect>
                                  </p:childTnLst>
                                </p:cTn>
                              </p:par>
                              <p:par>
                                <p:cTn id="134" presetID="22" presetClass="entr" presetSubtype="4" fill="hold" grpId="0" nodeType="withEffect">
                                  <p:stCondLst>
                                    <p:cond delay="0"/>
                                  </p:stCondLst>
                                  <p:childTnLst>
                                    <p:set>
                                      <p:cBhvr>
                                        <p:cTn id="135" dur="1" fill="hold">
                                          <p:stCondLst>
                                            <p:cond delay="0"/>
                                          </p:stCondLst>
                                        </p:cTn>
                                        <p:tgtEl>
                                          <p:spTgt spid="50"/>
                                        </p:tgtEl>
                                        <p:attrNameLst>
                                          <p:attrName>style.visibility</p:attrName>
                                        </p:attrNameLst>
                                      </p:cBhvr>
                                      <p:to>
                                        <p:strVal val="visible"/>
                                      </p:to>
                                    </p:set>
                                    <p:animEffect transition="in" filter="wipe(down)">
                                      <p:cBhvr>
                                        <p:cTn id="136" dur="500"/>
                                        <p:tgtEl>
                                          <p:spTgt spid="50"/>
                                        </p:tgtEl>
                                      </p:cBhvr>
                                    </p:animEffect>
                                  </p:childTnLst>
                                </p:cTn>
                              </p:par>
                            </p:childTnLst>
                          </p:cTn>
                        </p:par>
                      </p:childTnLst>
                    </p:cTn>
                  </p:par>
                  <p:par>
                    <p:cTn id="137" fill="hold">
                      <p:stCondLst>
                        <p:cond delay="indefinite"/>
                      </p:stCondLst>
                      <p:childTnLst>
                        <p:par>
                          <p:cTn id="138" fill="hold">
                            <p:stCondLst>
                              <p:cond delay="0"/>
                            </p:stCondLst>
                            <p:childTnLst>
                              <p:par>
                                <p:cTn id="139" presetID="1" presetClass="mediacall" presetSubtype="0" fill="hold" nodeType="clickEffect">
                                  <p:stCondLst>
                                    <p:cond delay="0"/>
                                  </p:stCondLst>
                                  <p:childTnLst>
                                    <p:cmd type="call" cmd="playFrom(0.0)">
                                      <p:cBhvr>
                                        <p:cTn id="140" dur="10169"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41" fill="hold" display="0">
                  <p:stCondLst>
                    <p:cond delay="indefinite"/>
                  </p:stCondLst>
                  <p:endCondLst>
                    <p:cond evt="onStopAudio" delay="0">
                      <p:tgtEl>
                        <p:sldTgt/>
                      </p:tgtEl>
                    </p:cond>
                  </p:endCondLst>
                </p:cTn>
                <p:tgtEl>
                  <p:spTgt spid="25"/>
                </p:tgtEl>
              </p:cMediaNode>
            </p:audio>
          </p:childTnLst>
        </p:cTn>
      </p:par>
    </p:tnLst>
    <p:bldLst>
      <p:bldP spid="6" grpId="0" animBg="1"/>
      <p:bldP spid="7" grpId="0" animBg="1"/>
      <p:bldP spid="8" grpId="0" animBg="1"/>
      <p:bldP spid="9" grpId="0" animBg="1"/>
      <p:bldP spid="10" grpId="0" animBg="1"/>
      <p:bldP spid="11" grpId="0" animBg="1"/>
      <p:bldP spid="12" grpId="0" animBg="1"/>
      <p:bldP spid="13" grpId="0" animBg="1"/>
      <p:bldP spid="15" grpId="0" animBg="1"/>
      <p:bldP spid="2" grpId="0" animBg="1"/>
      <p:bldP spid="3" grpId="0" animBg="1"/>
      <p:bldP spid="4" grpId="0" animBg="1"/>
      <p:bldP spid="5" grpId="0" animBg="1"/>
      <p:bldP spid="14" grpId="0" animBg="1"/>
      <p:bldP spid="17" grpId="0"/>
      <p:bldP spid="18" grpId="0"/>
      <p:bldP spid="19" grpId="0"/>
      <p:bldP spid="20" grpId="0"/>
      <p:bldP spid="21" grpId="0"/>
      <p:bldP spid="22" grpId="0"/>
      <p:bldP spid="23" grpId="0"/>
      <p:bldP spid="28" grpId="0"/>
      <p:bldP spid="31" grpId="0"/>
      <p:bldP spid="34" grpId="0"/>
      <p:bldP spid="37" grpId="0"/>
      <p:bldP spid="48" grpId="0"/>
      <p:bldP spid="49" grpId="0"/>
      <p:bldP spid="50" grpId="0"/>
    </p:bldLst>
  </p:timing>
  <p:extLst>
    <p:ext uri="{E180D4A7-C9FB-4DFB-919C-405C955672EB}">
      <p14:showEvtLst xmlns:p14="http://schemas.microsoft.com/office/powerpoint/2010/main">
        <p14:playEvt time="11085" objId="25"/>
        <p14:stopEvt time="21793" objId="25"/>
      </p14:showEvtLst>
    </p:ext>
  </p:extLs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2A451-4F39-1066-D800-DE7AA375C912}"/>
              </a:ext>
            </a:extLst>
          </p:cNvPr>
          <p:cNvSpPr>
            <a:spLocks noGrp="1"/>
          </p:cNvSpPr>
          <p:nvPr>
            <p:ph type="title"/>
          </p:nvPr>
        </p:nvSpPr>
        <p:spPr>
          <a:xfrm>
            <a:off x="4090507" y="764372"/>
            <a:ext cx="7434070" cy="1432289"/>
          </a:xfrm>
        </p:spPr>
        <p:txBody>
          <a:bodyPr>
            <a:normAutofit/>
          </a:bodyPr>
          <a:lstStyle/>
          <a:p>
            <a:pPr marL="571500" indent="-571500">
              <a:buFont typeface="Arial" panose="020B0604020202020204" pitchFamily="34" charset="0"/>
              <a:buChar char="•"/>
            </a:pPr>
            <a:r>
              <a:rPr lang="en-US" sz="4800" dirty="0">
                <a:latin typeface="Aharoni" panose="02010803020104030203" pitchFamily="2" charset="-79"/>
                <a:cs typeface="Aharoni" panose="02010803020104030203" pitchFamily="2" charset="-79"/>
              </a:rPr>
              <a:t>Introduction to ICT</a:t>
            </a:r>
          </a:p>
        </p:txBody>
      </p:sp>
      <p:sp>
        <p:nvSpPr>
          <p:cNvPr id="3" name="Content Placeholder 2">
            <a:extLst>
              <a:ext uri="{FF2B5EF4-FFF2-40B4-BE49-F238E27FC236}">
                <a16:creationId xmlns:a16="http://schemas.microsoft.com/office/drawing/2014/main" id="{43F6C470-D9ED-00D9-736A-6FDBB197D578}"/>
              </a:ext>
            </a:extLst>
          </p:cNvPr>
          <p:cNvSpPr>
            <a:spLocks noGrp="1"/>
          </p:cNvSpPr>
          <p:nvPr>
            <p:ph idx="1"/>
          </p:nvPr>
        </p:nvSpPr>
        <p:spPr>
          <a:xfrm>
            <a:off x="4090507" y="2628900"/>
            <a:ext cx="7454077" cy="3589785"/>
          </a:xfrm>
        </p:spPr>
        <p:txBody>
          <a:bodyPr>
            <a:normAutofit/>
          </a:bodyPr>
          <a:lstStyle/>
          <a:p>
            <a:r>
              <a:rPr lang="en-US" sz="2000" dirty="0">
                <a:latin typeface="Amasis MT Pro" panose="02040504050005020304" pitchFamily="18" charset="0"/>
              </a:rPr>
              <a:t>Information and Communication Technology (ICT) encompasses a wide range of technologies that facilitate the access, transmission, and storage of information. In today’s digital age, ICT plays a crucial role in connecting people, businesses, and institutions across the globe. It integrates telecommunications, computers, software applications, and various services to enhance communication and improve efficiency. Understanding ICT is essential as it shapes how we interact, learn, and conduct business, ultimately transforming our daily lives.</a:t>
            </a:r>
          </a:p>
        </p:txBody>
      </p:sp>
      <p:pic>
        <p:nvPicPr>
          <p:cNvPr id="4" name="first_heading_is_Introduction_to_ICT_inferred">
            <a:hlinkClick r:id="" action="ppaction://media"/>
            <a:extLst>
              <a:ext uri="{FF2B5EF4-FFF2-40B4-BE49-F238E27FC236}">
                <a16:creationId xmlns:a16="http://schemas.microsoft.com/office/drawing/2014/main" id="{470AC959-7937-3A4B-0260-3F81157F5EEF}"/>
              </a:ext>
            </a:extLst>
          </p:cNvPr>
          <p:cNvPicPr>
            <a:picLocks noChangeAspect="1"/>
          </p:cNvPicPr>
          <p:nvPr>
            <a:audioFile r:link="rId3"/>
            <p:extLst>
              <p:ext uri="{DAA4B4D4-6D71-4841-9C94-3DE7FCFB9230}">
                <p14:media xmlns:p14="http://schemas.microsoft.com/office/powerpoint/2010/main" r:embed="rId2"/>
              </p:ext>
            </p:extLst>
          </p:nvPr>
        </p:nvPicPr>
        <p:blipFill>
          <a:blip r:embed="rId5"/>
          <a:stretch>
            <a:fillRect/>
          </a:stretch>
        </p:blipFill>
        <p:spPr>
          <a:xfrm>
            <a:off x="1277258" y="6495143"/>
            <a:ext cx="406400" cy="406400"/>
          </a:xfrm>
          <a:prstGeom prst="rect">
            <a:avLst/>
          </a:prstGeom>
        </p:spPr>
      </p:pic>
    </p:spTree>
    <p:custDataLst>
      <p:tags r:id="rId1"/>
    </p:custDataLst>
    <p:extLst>
      <p:ext uri="{BB962C8B-B14F-4D97-AF65-F5344CB8AC3E}">
        <p14:creationId xmlns:p14="http://schemas.microsoft.com/office/powerpoint/2010/main" val="7657722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advTm="23758">
        <p:fade/>
      </p:transition>
    </mc:Choice>
    <mc:Fallback>
      <p:transition spd="med" advTm="2375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2173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5" fill="hold" display="0">
                  <p:stCondLst>
                    <p:cond delay="indefinite"/>
                  </p:stCondLst>
                  <p:endCondLst>
                    <p:cond evt="onStopAudio" delay="0">
                      <p:tgtEl>
                        <p:sldTgt/>
                      </p:tgtEl>
                    </p:cond>
                  </p:endCondLst>
                </p:cTn>
                <p:tgtEl>
                  <p:spTgt spid="4"/>
                </p:tgtEl>
              </p:cMediaNode>
            </p:audio>
          </p:childTnLst>
        </p:cTn>
      </p:par>
    </p:tnLst>
    <p:bldLst>
      <p:bldP spid="2" grpId="0"/>
    </p:bldLst>
  </p:timing>
  <p:extLst>
    <p:ext uri="{E180D4A7-C9FB-4DFB-919C-405C955672EB}">
      <p14:showEvtLst xmlns:p14="http://schemas.microsoft.com/office/powerpoint/2010/main">
        <p14:playEvt time="1790" objId="4"/>
        <p14:stopEvt time="23556" objId="4"/>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605E-A8E4-D6BC-C0D1-3629DB558A1E}"/>
              </a:ext>
            </a:extLst>
          </p:cNvPr>
          <p:cNvSpPr>
            <a:spLocks noGrp="1"/>
          </p:cNvSpPr>
          <p:nvPr>
            <p:ph type="title"/>
          </p:nvPr>
        </p:nvSpPr>
        <p:spPr/>
        <p:txBody>
          <a:bodyPr>
            <a:normAutofit/>
          </a:bodyPr>
          <a:lstStyle/>
          <a:p>
            <a:pPr marL="571500" indent="-571500">
              <a:buFont typeface="Arial" panose="020B0604020202020204" pitchFamily="34" charset="0"/>
              <a:buChar char="•"/>
            </a:pPr>
            <a:r>
              <a:rPr lang="en-US" sz="4400" dirty="0">
                <a:latin typeface="Aharoni" panose="02010803020104030203" pitchFamily="2" charset="-79"/>
                <a:cs typeface="Aharoni" panose="02010803020104030203" pitchFamily="2" charset="-79"/>
              </a:rPr>
              <a:t>Key Components of ICT</a:t>
            </a:r>
          </a:p>
        </p:txBody>
      </p:sp>
      <p:sp>
        <p:nvSpPr>
          <p:cNvPr id="3" name="Content Placeholder 2">
            <a:extLst>
              <a:ext uri="{FF2B5EF4-FFF2-40B4-BE49-F238E27FC236}">
                <a16:creationId xmlns:a16="http://schemas.microsoft.com/office/drawing/2014/main" id="{7A8B8E79-BCDC-B1BF-55C9-4525BAC4F52F}"/>
              </a:ext>
            </a:extLst>
          </p:cNvPr>
          <p:cNvSpPr>
            <a:spLocks noGrp="1"/>
          </p:cNvSpPr>
          <p:nvPr>
            <p:ph idx="1"/>
          </p:nvPr>
        </p:nvSpPr>
        <p:spPr/>
        <p:txBody>
          <a:bodyPr>
            <a:normAutofit lnSpcReduction="10000"/>
          </a:bodyPr>
          <a:lstStyle/>
          <a:p>
            <a:r>
              <a:rPr lang="en-US" dirty="0">
                <a:latin typeface="Amasis MT Pro" panose="02040504050005020304" pitchFamily="18" charset="0"/>
              </a:rPr>
              <a:t>The foundation of ICT comprises three key components: hardware, software, and telecommunications. Hardware includes devices such as computers, smartphones, and networking equipment that allow users to access and process information. Software refers to the applications and programs that enable users to perform tasks, from word processing to data analysis. Telecommunications involve the infrastructure that connects devices, including the internet, mobile networks, and satellite communications. Together, these components create an ecosystem that supports seamless information exchange and communication.</a:t>
            </a:r>
          </a:p>
        </p:txBody>
      </p:sp>
    </p:spTree>
    <p:custDataLst>
      <p:tags r:id="rId1"/>
    </p:custDataLst>
    <p:extLst>
      <p:ext uri="{BB962C8B-B14F-4D97-AF65-F5344CB8AC3E}">
        <p14:creationId xmlns:p14="http://schemas.microsoft.com/office/powerpoint/2010/main" val="2403165785"/>
      </p:ext>
    </p:extLst>
  </p:cSld>
  <p:clrMapOvr>
    <a:masterClrMapping/>
  </p:clrMapOvr>
  <p:transition spd="slow" advTm="2293">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90B-B131-1C71-EF51-4AB9C304A2BE}"/>
              </a:ext>
            </a:extLst>
          </p:cNvPr>
          <p:cNvSpPr>
            <a:spLocks noGrp="1"/>
          </p:cNvSpPr>
          <p:nvPr>
            <p:ph type="title"/>
          </p:nvPr>
        </p:nvSpPr>
        <p:spPr/>
        <p:txBody>
          <a:bodyPr>
            <a:normAutofit/>
          </a:bodyPr>
          <a:lstStyle/>
          <a:p>
            <a:pPr marL="571500" indent="-571500">
              <a:buFont typeface="Arial" panose="020B0604020202020204" pitchFamily="34" charset="0"/>
              <a:buChar char="•"/>
            </a:pPr>
            <a:r>
              <a:rPr lang="en-US" sz="4400" dirty="0">
                <a:latin typeface="Aharoni" panose="02010803020104030203" pitchFamily="2" charset="-79"/>
                <a:cs typeface="Aharoni" panose="02010803020104030203" pitchFamily="2" charset="-79"/>
              </a:rPr>
              <a:t>ICT in Education</a:t>
            </a:r>
          </a:p>
        </p:txBody>
      </p:sp>
      <p:sp>
        <p:nvSpPr>
          <p:cNvPr id="3" name="Content Placeholder 2">
            <a:extLst>
              <a:ext uri="{FF2B5EF4-FFF2-40B4-BE49-F238E27FC236}">
                <a16:creationId xmlns:a16="http://schemas.microsoft.com/office/drawing/2014/main" id="{5D1F98DC-9575-9469-BED0-02AC4232274E}"/>
              </a:ext>
            </a:extLst>
          </p:cNvPr>
          <p:cNvSpPr>
            <a:spLocks noGrp="1"/>
          </p:cNvSpPr>
          <p:nvPr>
            <p:ph idx="1"/>
          </p:nvPr>
        </p:nvSpPr>
        <p:spPr/>
        <p:txBody>
          <a:bodyPr>
            <a:normAutofit fontScale="92500"/>
          </a:bodyPr>
          <a:lstStyle/>
          <a:p>
            <a:r>
              <a:rPr lang="en-US" dirty="0">
                <a:latin typeface="Amasis MT Pro" panose="02040504050005020304" pitchFamily="18" charset="0"/>
              </a:rPr>
              <a:t>ICT has revolutionized the educational landscape by providing innovative tools and resources that enhance learning experiences. E-learning platforms enable students to access courses and materials anytime, anywhere, fostering a more flexible learning environment. Remote learning technologies, such as video conferencing and collaborative tools, facilitate real-time interaction between educators and learners, breaking down geographical barriers. Additionally, digital resources, like online libraries and educational apps, support diverse learning styles and promote independent study, preparing students for a technology-driven world.</a:t>
            </a:r>
          </a:p>
        </p:txBody>
      </p:sp>
    </p:spTree>
    <p:custDataLst>
      <p:tags r:id="rId1"/>
    </p:custDataLst>
    <p:extLst>
      <p:ext uri="{BB962C8B-B14F-4D97-AF65-F5344CB8AC3E}">
        <p14:creationId xmlns:p14="http://schemas.microsoft.com/office/powerpoint/2010/main" val="17947152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advTm="1034">
        <p15:prstTrans prst="crush"/>
      </p:transition>
    </mc:Choice>
    <mc:Fallback>
      <p:transition spd="slow" advTm="103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04700-7B63-4D53-D6D3-859A9C752693}"/>
              </a:ext>
            </a:extLst>
          </p:cNvPr>
          <p:cNvSpPr>
            <a:spLocks noGrp="1"/>
          </p:cNvSpPr>
          <p:nvPr>
            <p:ph type="title"/>
          </p:nvPr>
        </p:nvSpPr>
        <p:spPr/>
        <p:txBody>
          <a:bodyPr>
            <a:normAutofit/>
          </a:bodyPr>
          <a:lstStyle/>
          <a:p>
            <a:pPr marL="571500" indent="-571500">
              <a:buFont typeface="Arial" panose="020B0604020202020204" pitchFamily="34" charset="0"/>
              <a:buChar char="•"/>
            </a:pPr>
            <a:r>
              <a:rPr lang="en-US" sz="4800" b="1" dirty="0">
                <a:latin typeface="Aharoni" panose="02010803020104030203" pitchFamily="2" charset="-79"/>
                <a:cs typeface="Aharoni" panose="02010803020104030203" pitchFamily="2" charset="-79"/>
              </a:rPr>
              <a:t>ICT IN BUSINESS</a:t>
            </a:r>
          </a:p>
        </p:txBody>
      </p:sp>
      <p:sp>
        <p:nvSpPr>
          <p:cNvPr id="3" name="Content Placeholder 2">
            <a:extLst>
              <a:ext uri="{FF2B5EF4-FFF2-40B4-BE49-F238E27FC236}">
                <a16:creationId xmlns:a16="http://schemas.microsoft.com/office/drawing/2014/main" id="{8AC6D785-F979-4BFE-63CF-EC919D784FE9}"/>
              </a:ext>
            </a:extLst>
          </p:cNvPr>
          <p:cNvSpPr>
            <a:spLocks noGrp="1"/>
          </p:cNvSpPr>
          <p:nvPr>
            <p:ph idx="1"/>
          </p:nvPr>
        </p:nvSpPr>
        <p:spPr/>
        <p:txBody>
          <a:bodyPr>
            <a:normAutofit fontScale="92500"/>
          </a:bodyPr>
          <a:lstStyle/>
          <a:p>
            <a:r>
              <a:rPr lang="en-US" dirty="0">
                <a:latin typeface="Amasis MT Pro" panose="02040504050005020304" pitchFamily="18" charset="0"/>
              </a:rPr>
              <a:t>In the business realm, ICT is pivotal for improving operational efficiency and driving innovation. Companies leverage automation to streamline routine processes, reducing human error and increasing productivity. Communication tools, including emails, instant messaging, and video conferencing platforms, enhance collaboration among teams, regardless of location. Furthermore, data analytics enables businesses to harness large volumes of information for strategic decision-making, identifying trends and customer preferences. By integrating ICT into their operations, organizations can remain competitive and responsive to market changes.</a:t>
            </a:r>
          </a:p>
        </p:txBody>
      </p:sp>
    </p:spTree>
    <p:custDataLst>
      <p:tags r:id="rId1"/>
    </p:custDataLst>
    <p:extLst>
      <p:ext uri="{BB962C8B-B14F-4D97-AF65-F5344CB8AC3E}">
        <p14:creationId xmlns:p14="http://schemas.microsoft.com/office/powerpoint/2010/main" val="3280239563"/>
      </p:ext>
    </p:extLst>
  </p:cSld>
  <p:clrMapOvr>
    <a:masterClrMapping/>
  </p:clrMapOvr>
  <mc:AlternateContent xmlns:mc="http://schemas.openxmlformats.org/markup-compatibility/2006">
    <mc:Choice xmlns:p14="http://schemas.microsoft.com/office/powerpoint/2010/main" Requires="p14">
      <p:transition p14:dur="100" advTm="3270">
        <p:cut/>
      </p:transition>
    </mc:Choice>
    <mc:Fallback>
      <p:transition advTm="3270">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2F8A1-2C70-A181-3D98-AFF8302E0A34}"/>
              </a:ext>
            </a:extLst>
          </p:cNvPr>
          <p:cNvSpPr>
            <a:spLocks noGrp="1"/>
          </p:cNvSpPr>
          <p:nvPr>
            <p:ph type="title"/>
          </p:nvPr>
        </p:nvSpPr>
        <p:spPr/>
        <p:txBody>
          <a:bodyPr/>
          <a:lstStyle/>
          <a:p>
            <a:pPr marL="571500" indent="-571500">
              <a:buFont typeface="Arial" panose="020B0604020202020204" pitchFamily="34" charset="0"/>
              <a:buChar char="•"/>
            </a:pPr>
            <a:r>
              <a:rPr lang="en-US" b="1" dirty="0">
                <a:latin typeface="Aharoni" panose="02010803020104030203" pitchFamily="2" charset="-79"/>
                <a:cs typeface="Aharoni" panose="02010803020104030203" pitchFamily="2" charset="-79"/>
              </a:rPr>
              <a:t>ICT IN HEALTHCARE</a:t>
            </a:r>
          </a:p>
        </p:txBody>
      </p:sp>
      <p:sp>
        <p:nvSpPr>
          <p:cNvPr id="3" name="Content Placeholder 2">
            <a:extLst>
              <a:ext uri="{FF2B5EF4-FFF2-40B4-BE49-F238E27FC236}">
                <a16:creationId xmlns:a16="http://schemas.microsoft.com/office/drawing/2014/main" id="{5CA8261C-C3C6-EB35-D626-3FC50C3FB268}"/>
              </a:ext>
            </a:extLst>
          </p:cNvPr>
          <p:cNvSpPr>
            <a:spLocks noGrp="1"/>
          </p:cNvSpPr>
          <p:nvPr>
            <p:ph idx="1"/>
          </p:nvPr>
        </p:nvSpPr>
        <p:spPr/>
        <p:txBody>
          <a:bodyPr>
            <a:normAutofit fontScale="92500"/>
          </a:bodyPr>
          <a:lstStyle/>
          <a:p>
            <a:r>
              <a:rPr lang="en-US" dirty="0">
                <a:latin typeface="Amasis MT Pro" panose="02040504050005020304" pitchFamily="18" charset="0"/>
              </a:rPr>
              <a:t>The impact of ICT in healthcare is profound, leading to improved patient outcomes and enhanced efficiency in service delivery. Telemedicine allows healthcare professionals to consult with patients remotely, expanding access to care, especially in rural areas. Electronic Health Records (EHR) systems streamline the management of patient information, enabling better coordination among healthcare providers. Additionally, wearable health technology monitors vital signs in real-time, empowering patients to take charge of their health. The integration of ICT in healthcare not only improves service delivery but also enhances the patient experience.</a:t>
            </a:r>
          </a:p>
        </p:txBody>
      </p:sp>
    </p:spTree>
    <p:custDataLst>
      <p:tags r:id="rId1"/>
    </p:custDataLst>
    <p:extLst>
      <p:ext uri="{BB962C8B-B14F-4D97-AF65-F5344CB8AC3E}">
        <p14:creationId xmlns:p14="http://schemas.microsoft.com/office/powerpoint/2010/main" val="3978814044"/>
      </p:ext>
    </p:extLst>
  </p:cSld>
  <p:clrMapOvr>
    <a:masterClrMapping/>
  </p:clrMapOvr>
  <p:transition spd="slow" advTm="4551">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4481F-8EEF-04DD-0B1C-98B825C0000E}"/>
              </a:ext>
            </a:extLst>
          </p:cNvPr>
          <p:cNvSpPr>
            <a:spLocks noGrp="1"/>
          </p:cNvSpPr>
          <p:nvPr>
            <p:ph type="title"/>
          </p:nvPr>
        </p:nvSpPr>
        <p:spPr/>
        <p:txBody>
          <a:bodyPr/>
          <a:lstStyle/>
          <a:p>
            <a:pPr marL="571500" indent="-571500">
              <a:buFont typeface="Arial" panose="020B0604020202020204" pitchFamily="34" charset="0"/>
              <a:buChar char="•"/>
            </a:pPr>
            <a:r>
              <a:rPr lang="en-US" dirty="0">
                <a:latin typeface="Aharoni" panose="02010803020104030203" pitchFamily="2" charset="-79"/>
                <a:cs typeface="Aharoni" panose="02010803020104030203" pitchFamily="2" charset="-79"/>
              </a:rPr>
              <a:t>CHALLENGES IN ICT</a:t>
            </a:r>
          </a:p>
        </p:txBody>
      </p:sp>
      <p:sp>
        <p:nvSpPr>
          <p:cNvPr id="3" name="Content Placeholder 2">
            <a:extLst>
              <a:ext uri="{FF2B5EF4-FFF2-40B4-BE49-F238E27FC236}">
                <a16:creationId xmlns:a16="http://schemas.microsoft.com/office/drawing/2014/main" id="{5717EA5D-8EC7-CB56-FEE0-FE365AE7CE08}"/>
              </a:ext>
            </a:extLst>
          </p:cNvPr>
          <p:cNvSpPr>
            <a:spLocks noGrp="1"/>
          </p:cNvSpPr>
          <p:nvPr>
            <p:ph idx="1"/>
          </p:nvPr>
        </p:nvSpPr>
        <p:spPr/>
        <p:txBody>
          <a:bodyPr>
            <a:normAutofit fontScale="92500"/>
          </a:bodyPr>
          <a:lstStyle/>
          <a:p>
            <a:r>
              <a:rPr lang="en-US" dirty="0">
                <a:latin typeface="Amasis MT Pro" panose="02040504050005020304" pitchFamily="18" charset="0"/>
              </a:rPr>
              <a:t>Despite its many benefits, ICT faces significant challenges that must be addressed to maximize its potential. Cybersecurity threats pose risks to data integrity and privacy, requiring organizations to invest in robust security measures. The digital divide remains a pressing issue, with disparities in access to technology and the internet hindering equitable participation in the digital economy. Furthermore, the rapid pace of technological advancement necessitates ongoing training and education for individuals to keep up with emerging tools and platforms. Addressing these challenges is essential for a more inclusive and secure digital future.</a:t>
            </a:r>
          </a:p>
        </p:txBody>
      </p:sp>
    </p:spTree>
    <p:custDataLst>
      <p:tags r:id="rId1"/>
    </p:custDataLst>
    <p:extLst>
      <p:ext uri="{BB962C8B-B14F-4D97-AF65-F5344CB8AC3E}">
        <p14:creationId xmlns:p14="http://schemas.microsoft.com/office/powerpoint/2010/main" val="2626379091"/>
      </p:ext>
    </p:extLst>
  </p:cSld>
  <p:clrMapOvr>
    <a:masterClrMapping/>
  </p:clrMapOvr>
  <p:transition spd="slow" advTm="3500">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9EA83-4595-7BED-EE9F-2240A222676A}"/>
              </a:ext>
            </a:extLst>
          </p:cNvPr>
          <p:cNvSpPr>
            <a:spLocks noGrp="1"/>
          </p:cNvSpPr>
          <p:nvPr>
            <p:ph type="title"/>
          </p:nvPr>
        </p:nvSpPr>
        <p:spPr/>
        <p:txBody>
          <a:bodyPr/>
          <a:lstStyle/>
          <a:p>
            <a:pPr marL="571500" indent="-571500">
              <a:buFont typeface="Arial" panose="020B0604020202020204" pitchFamily="34" charset="0"/>
              <a:buChar char="•"/>
            </a:pPr>
            <a:r>
              <a:rPr lang="en-US" dirty="0">
                <a:latin typeface="Aharoni" panose="02010803020104030203" pitchFamily="2" charset="-79"/>
                <a:cs typeface="Aharoni" panose="02010803020104030203" pitchFamily="2" charset="-79"/>
              </a:rPr>
              <a:t>FUTURE TRENDS IN ICT</a:t>
            </a:r>
          </a:p>
        </p:txBody>
      </p:sp>
      <p:sp>
        <p:nvSpPr>
          <p:cNvPr id="3" name="Content Placeholder 2">
            <a:extLst>
              <a:ext uri="{FF2B5EF4-FFF2-40B4-BE49-F238E27FC236}">
                <a16:creationId xmlns:a16="http://schemas.microsoft.com/office/drawing/2014/main" id="{675C1C88-741D-B7B0-669C-9341AA6E0365}"/>
              </a:ext>
            </a:extLst>
          </p:cNvPr>
          <p:cNvSpPr>
            <a:spLocks noGrp="1"/>
          </p:cNvSpPr>
          <p:nvPr>
            <p:ph idx="1"/>
          </p:nvPr>
        </p:nvSpPr>
        <p:spPr/>
        <p:txBody>
          <a:bodyPr>
            <a:normAutofit fontScale="92500"/>
          </a:bodyPr>
          <a:lstStyle/>
          <a:p>
            <a:r>
              <a:rPr lang="en-US" dirty="0">
                <a:latin typeface="Amasis MT Pro" panose="02040504050005020304" pitchFamily="18" charset="0"/>
              </a:rPr>
              <a:t>The future of ICT is poised for transformative growth, driven by advancements in technology. Artificial Intelligence (AI) is becoming increasingly integrated into various applications, enhancing decision-making and automating processes across sectors. The Internet of Things (IoT) is expanding, connecting everyday devices to the internet and enabling smarter living environments. Additionally, there is a growing emphasis on digital literacy, equipping individuals with the skills needed to navigate and thrive in a tech-centric world. Embracing these trends will be crucial for individuals and organizations looking to leverage ICT for innovation and success.</a:t>
            </a:r>
          </a:p>
        </p:txBody>
      </p:sp>
    </p:spTree>
    <p:custDataLst>
      <p:tags r:id="rId1"/>
    </p:custDataLst>
    <p:extLst>
      <p:ext uri="{BB962C8B-B14F-4D97-AF65-F5344CB8AC3E}">
        <p14:creationId xmlns:p14="http://schemas.microsoft.com/office/powerpoint/2010/main" val="624813156"/>
      </p:ext>
    </p:extLst>
  </p:cSld>
  <p:clrMapOvr>
    <a:masterClrMapping/>
  </p:clrMapOvr>
  <p:transition spd="slow" advTm="4379">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FFEF4-C4FA-3A55-ABB7-5615FADCB5B5}"/>
              </a:ext>
            </a:extLst>
          </p:cNvPr>
          <p:cNvSpPr>
            <a:spLocks noGrp="1"/>
          </p:cNvSpPr>
          <p:nvPr>
            <p:ph type="title"/>
          </p:nvPr>
        </p:nvSpPr>
        <p:spPr/>
        <p:txBody>
          <a:bodyPr/>
          <a:lstStyle/>
          <a:p>
            <a:pPr marL="571500" indent="-571500">
              <a:buFont typeface="Arial" panose="020B0604020202020204" pitchFamily="34" charset="0"/>
              <a:buChar char="•"/>
            </a:pPr>
            <a:r>
              <a:rPr lang="en-US" dirty="0">
                <a:latin typeface="Aharoni" panose="02010803020104030203" pitchFamily="2" charset="-79"/>
                <a:cs typeface="Aharoni" panose="02010803020104030203" pitchFamily="2" charset="-79"/>
              </a:rPr>
              <a:t>CONCLUSION</a:t>
            </a:r>
          </a:p>
        </p:txBody>
      </p:sp>
      <p:sp>
        <p:nvSpPr>
          <p:cNvPr id="3" name="Content Placeholder 2">
            <a:extLst>
              <a:ext uri="{FF2B5EF4-FFF2-40B4-BE49-F238E27FC236}">
                <a16:creationId xmlns:a16="http://schemas.microsoft.com/office/drawing/2014/main" id="{1BB4D6DD-612D-9151-8DC7-E90CCF9ECA97}"/>
              </a:ext>
            </a:extLst>
          </p:cNvPr>
          <p:cNvSpPr>
            <a:spLocks noGrp="1"/>
          </p:cNvSpPr>
          <p:nvPr>
            <p:ph idx="1"/>
          </p:nvPr>
        </p:nvSpPr>
        <p:spPr/>
        <p:txBody>
          <a:bodyPr>
            <a:normAutofit lnSpcReduction="10000"/>
          </a:bodyPr>
          <a:lstStyle/>
          <a:p>
            <a:r>
              <a:rPr lang="en-US" dirty="0">
                <a:latin typeface="Amasis MT Pro" panose="02040504050005020304" pitchFamily="18" charset="0"/>
              </a:rPr>
              <a:t>In conclusion, Information and Communication Technology is a cornerstone of modern society, influencing how we communicate, learn, and conduct business. Its components work together to create a connected world, with profound implications for education, healthcare, and commerce. However, challenges such as cybersecurity risks and the digital divide must be addressed to fully harness its potential. By staying informed and adapting to technological advancements, we can embrace the opportunities that ICT presents, ultimately fostering a more connected, efficient, and equitable future.</a:t>
            </a:r>
          </a:p>
        </p:txBody>
      </p:sp>
    </p:spTree>
    <p:custDataLst>
      <p:tags r:id="rId1"/>
    </p:custDataLst>
    <p:extLst>
      <p:ext uri="{BB962C8B-B14F-4D97-AF65-F5344CB8AC3E}">
        <p14:creationId xmlns:p14="http://schemas.microsoft.com/office/powerpoint/2010/main" val="2517887225"/>
      </p:ext>
    </p:extLst>
  </p:cSld>
  <p:clrMapOvr>
    <a:masterClrMapping/>
  </p:clrMapOvr>
  <mc:AlternateContent xmlns:mc="http://schemas.openxmlformats.org/markup-compatibility/2006">
    <mc:Choice xmlns:p14="http://schemas.microsoft.com/office/powerpoint/2010/main" Requires="p14">
      <p:transition spd="slow" p14:dur="1600" advTm="2453">
        <p14:gallery dir="l"/>
      </p:transition>
    </mc:Choice>
    <mc:Fallback>
      <p:transition spd="slow" advTm="245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6|0.9"/>
</p:tagLst>
</file>

<file path=ppt/tags/tag2.xml><?xml version="1.0" encoding="utf-8"?>
<p:tagLst xmlns:a="http://schemas.openxmlformats.org/drawingml/2006/main" xmlns:r="http://schemas.openxmlformats.org/officeDocument/2006/relationships" xmlns:p="http://schemas.openxmlformats.org/presentationml/2006/main">
  <p:tag name="TIMING" val="|0.3|0.8|0.3|0.4|0.3|0.5|0.1|0.2|0.1|0.4|0.2|1.9|5"/>
</p:tagLst>
</file>

<file path=ppt/tags/tag3.xml><?xml version="1.0" encoding="utf-8"?>
<p:tagLst xmlns:a="http://schemas.openxmlformats.org/drawingml/2006/main" xmlns:r="http://schemas.openxmlformats.org/officeDocument/2006/relationships" xmlns:p="http://schemas.openxmlformats.org/presentationml/2006/main">
  <p:tag name="TIMING" val="|0.5|1.2"/>
</p:tagLst>
</file>

<file path=ppt/tags/tag4.xml><?xml version="1.0" encoding="utf-8"?>
<p:tagLst xmlns:a="http://schemas.openxmlformats.org/drawingml/2006/main" xmlns:r="http://schemas.openxmlformats.org/officeDocument/2006/relationships" xmlns:p="http://schemas.openxmlformats.org/presentationml/2006/main">
  <p:tag name="TIMING" val="|0.3"/>
</p:tagLst>
</file>

<file path=ppt/tags/tag5.xml><?xml version="1.0" encoding="utf-8"?>
<p:tagLst xmlns:a="http://schemas.openxmlformats.org/drawingml/2006/main" xmlns:r="http://schemas.openxmlformats.org/officeDocument/2006/relationships" xmlns:p="http://schemas.openxmlformats.org/presentationml/2006/main">
  <p:tag name="TIMING" val="|0"/>
</p:tagLst>
</file>

<file path=ppt/tags/tag6.xml><?xml version="1.0" encoding="utf-8"?>
<p:tagLst xmlns:a="http://schemas.openxmlformats.org/drawingml/2006/main" xmlns:r="http://schemas.openxmlformats.org/officeDocument/2006/relationships" xmlns:p="http://schemas.openxmlformats.org/presentationml/2006/main">
  <p:tag name="TIMING" val="|0.9"/>
</p:tagLst>
</file>

<file path=ppt/tags/tag7.xml><?xml version="1.0" encoding="utf-8"?>
<p:tagLst xmlns:a="http://schemas.openxmlformats.org/drawingml/2006/main" xmlns:r="http://schemas.openxmlformats.org/officeDocument/2006/relationships" xmlns:p="http://schemas.openxmlformats.org/presentationml/2006/main">
  <p:tag name="TIMING" val="|0.5"/>
</p:tagLst>
</file>

<file path=ppt/tags/tag8.xml><?xml version="1.0" encoding="utf-8"?>
<p:tagLst xmlns:a="http://schemas.openxmlformats.org/drawingml/2006/main" xmlns:r="http://schemas.openxmlformats.org/officeDocument/2006/relationships" xmlns:p="http://schemas.openxmlformats.org/presentationml/2006/main">
  <p:tag name="TIMING" val="|0.4"/>
</p:tagLst>
</file>

<file path=ppt/tags/tag9.xml><?xml version="1.0" encoding="utf-8"?>
<p:tagLst xmlns:a="http://schemas.openxmlformats.org/drawingml/2006/main" xmlns:r="http://schemas.openxmlformats.org/officeDocument/2006/relationships" xmlns:p="http://schemas.openxmlformats.org/presentationml/2006/main">
  <p:tag name="TIMING" val="|0.1"/>
</p:tagLst>
</file>

<file path=ppt/tags/tag10.xml><?xml version="1.0" encoding="utf-8"?>
<p:tagLst xmlns:a="http://schemas.openxmlformats.org/drawingml/2006/main" xmlns:r="http://schemas.openxmlformats.org/officeDocument/2006/relationships" xmlns:p="http://schemas.openxmlformats.org/presentationml/2006/main">
  <p:tag name="TIMING" val="|0.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209</TotalTime>
  <Words>821</Words>
  <Application>Microsoft Office PowerPoint</Application>
  <PresentationFormat>Widescreen</PresentationFormat>
  <Paragraphs>32</Paragraphs>
  <Slides>10</Slides>
  <Notes>0</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Aharoni</vt:lpstr>
      <vt:lpstr>Amasis MT Pro</vt:lpstr>
      <vt:lpstr>Arial</vt:lpstr>
      <vt:lpstr>Corbel</vt:lpstr>
      <vt:lpstr>Parallax</vt:lpstr>
      <vt:lpstr>INFORMATION AND COMMUNICATION TECHNOLOGY</vt:lpstr>
      <vt:lpstr>PowerPoint Presentation</vt:lpstr>
      <vt:lpstr>Introduction to ICT</vt:lpstr>
      <vt:lpstr>Key Components of ICT</vt:lpstr>
      <vt:lpstr>ICT in Education</vt:lpstr>
      <vt:lpstr>ICT IN BUSINESS</vt:lpstr>
      <vt:lpstr>ICT IN HEALTHCARE</vt:lpstr>
      <vt:lpstr>CHALLENGES IN ICT</vt:lpstr>
      <vt:lpstr>FUTURE TRENDS IN ICT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Saad Khan</dc:creator>
  <cp:lastModifiedBy>Muhammad Saad Khan</cp:lastModifiedBy>
  <cp:revision>12</cp:revision>
  <dcterms:created xsi:type="dcterms:W3CDTF">2024-09-30T14:29:31Z</dcterms:created>
  <dcterms:modified xsi:type="dcterms:W3CDTF">2024-10-03T14:14:39Z</dcterms:modified>
</cp:coreProperties>
</file>